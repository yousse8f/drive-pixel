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32BD206-F6EF-8642-2DEA-086CE70DC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5820"/>
            <a:ext cx="14630400" cy="8229600"/>
          </a:xfrm>
          <a:prstGeom prst="rect">
            <a:avLst/>
          </a:prstGeom>
        </p:spPr>
      </p:pic>
      <p:sp>
        <p:nvSpPr>
          <p:cNvPr id="3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5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6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7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8" name="Nav_Freight-Logistics"/>
          <p:cNvSpPr txBox="1"/>
          <p:nvPr/>
        </p:nvSpPr>
        <p:spPr>
          <a:xfrm>
            <a:off x="5852160" y="384825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9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1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2" name="Nav_Shop"/>
          <p:cNvSpPr txBox="1"/>
          <p:nvPr/>
        </p:nvSpPr>
        <p:spPr>
          <a:xfrm>
            <a:off x="1060703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3" name="Nav_Contact"/>
          <p:cNvSpPr txBox="1"/>
          <p:nvPr/>
        </p:nvSpPr>
        <p:spPr>
          <a:xfrm>
            <a:off x="11521438" y="4343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4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5" name="Hero_Title"/>
          <p:cNvSpPr txBox="1"/>
          <p:nvPr/>
        </p:nvSpPr>
        <p:spPr>
          <a:xfrm>
            <a:off x="18288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Arial"/>
              </a:rPr>
              <a:t>Build Future-Ready Platforms</a:t>
            </a:r>
          </a:p>
        </p:txBody>
      </p:sp>
      <p:sp>
        <p:nvSpPr>
          <p:cNvPr id="16" name="Hero_Subtitle"/>
          <p:cNvSpPr txBox="1"/>
          <p:nvPr/>
        </p:nvSpPr>
        <p:spPr>
          <a:xfrm>
            <a:off x="182880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rial"/>
              </a:rPr>
              <a:t>We create smart applications, AI-powered tools, and seamless cloud infrastructure that help brands grow faster.</a:t>
            </a:r>
          </a:p>
        </p:txBody>
      </p:sp>
      <p:sp>
        <p:nvSpPr>
          <p:cNvPr id="17" name="Button_Consultation"/>
          <p:cNvSpPr/>
          <p:nvPr/>
        </p:nvSpPr>
        <p:spPr>
          <a:xfrm>
            <a:off x="4114800" y="5029200"/>
            <a:ext cx="2926080" cy="5943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Get a Free Consultation</a:t>
            </a:r>
          </a:p>
        </p:txBody>
      </p:sp>
      <p:sp>
        <p:nvSpPr>
          <p:cNvPr id="18" name="Button_Quote"/>
          <p:cNvSpPr/>
          <p:nvPr/>
        </p:nvSpPr>
        <p:spPr>
          <a:xfrm>
            <a:off x="7589520" y="5029200"/>
            <a:ext cx="2926080" cy="594360"/>
          </a:xfrm>
          <a:prstGeom prst="round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Request a Project Quote</a:t>
            </a:r>
          </a:p>
        </p:txBody>
      </p:sp>
      <p:sp>
        <p:nvSpPr>
          <p:cNvPr id="19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1/18: Home Page - Hero Section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5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6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7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8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9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1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2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3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4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5" name="Section_Label"/>
          <p:cNvSpPr txBox="1"/>
          <p:nvPr/>
        </p:nvSpPr>
        <p:spPr>
          <a:xfrm>
            <a:off x="914400" y="109728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KEY SERVICES OVERVIEW</a:t>
            </a:r>
          </a:p>
        </p:txBody>
      </p:sp>
      <p:sp>
        <p:nvSpPr>
          <p:cNvPr id="16" name="Section_Title"/>
          <p:cNvSpPr txBox="1"/>
          <p:nvPr/>
        </p:nvSpPr>
        <p:spPr>
          <a:xfrm>
            <a:off x="914400" y="146304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F3A"/>
                </a:solidFill>
                <a:latin typeface="Arial"/>
              </a:rPr>
              <a:t>We Build Future-Ready Digital Solutions</a:t>
            </a:r>
          </a:p>
        </p:txBody>
      </p:sp>
      <p:sp>
        <p:nvSpPr>
          <p:cNvPr id="17" name="Service_Card_1"/>
          <p:cNvSpPr/>
          <p:nvPr/>
        </p:nvSpPr>
        <p:spPr>
          <a:xfrm>
            <a:off x="914400" y="2560320"/>
            <a:ext cx="3017520" cy="29260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ervice_Icon_1"/>
          <p:cNvSpPr/>
          <p:nvPr/>
        </p:nvSpPr>
        <p:spPr>
          <a:xfrm>
            <a:off x="1965960" y="2834639"/>
            <a:ext cx="822960" cy="8229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ervice_Title_1"/>
          <p:cNvSpPr txBox="1"/>
          <p:nvPr/>
        </p:nvSpPr>
        <p:spPr>
          <a:xfrm>
            <a:off x="1097280" y="38404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F3A"/>
                </a:solidFill>
                <a:latin typeface="Arial"/>
              </a:rPr>
              <a:t>Web Development</a:t>
            </a:r>
          </a:p>
        </p:txBody>
      </p:sp>
      <p:sp>
        <p:nvSpPr>
          <p:cNvPr id="20" name="Service_Desc_1"/>
          <p:cNvSpPr txBox="1"/>
          <p:nvPr/>
        </p:nvSpPr>
        <p:spPr>
          <a:xfrm>
            <a:off x="1097280" y="429767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Custom websites, responsive layouts, and e-commerce solutions.</a:t>
            </a:r>
          </a:p>
        </p:txBody>
      </p:sp>
      <p:sp>
        <p:nvSpPr>
          <p:cNvPr id="21" name="Service_Link_1"/>
          <p:cNvSpPr txBox="1"/>
          <p:nvPr/>
        </p:nvSpPr>
        <p:spPr>
          <a:xfrm>
            <a:off x="1097280" y="5029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  <a:latin typeface="Arial"/>
              </a:rPr>
              <a:t>Learn more →</a:t>
            </a:r>
          </a:p>
        </p:txBody>
      </p:sp>
      <p:sp>
        <p:nvSpPr>
          <p:cNvPr id="22" name="Service_Card_2"/>
          <p:cNvSpPr/>
          <p:nvPr/>
        </p:nvSpPr>
        <p:spPr>
          <a:xfrm>
            <a:off x="4206240" y="2560320"/>
            <a:ext cx="3017520" cy="29260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ervice_Icon_2"/>
          <p:cNvSpPr/>
          <p:nvPr/>
        </p:nvSpPr>
        <p:spPr>
          <a:xfrm>
            <a:off x="5257800" y="2834639"/>
            <a:ext cx="822960" cy="8229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Service_Title_2"/>
          <p:cNvSpPr txBox="1"/>
          <p:nvPr/>
        </p:nvSpPr>
        <p:spPr>
          <a:xfrm>
            <a:off x="4389120" y="38404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F3A"/>
                </a:solidFill>
                <a:latin typeface="Arial"/>
              </a:rPr>
              <a:t>Mobile Apps</a:t>
            </a:r>
          </a:p>
        </p:txBody>
      </p:sp>
      <p:sp>
        <p:nvSpPr>
          <p:cNvPr id="25" name="Service_Desc_2"/>
          <p:cNvSpPr txBox="1"/>
          <p:nvPr/>
        </p:nvSpPr>
        <p:spPr>
          <a:xfrm>
            <a:off x="4389120" y="429767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iOS &amp; Android apps with seamless UX.</a:t>
            </a:r>
          </a:p>
        </p:txBody>
      </p:sp>
      <p:sp>
        <p:nvSpPr>
          <p:cNvPr id="26" name="Service_Link_2"/>
          <p:cNvSpPr txBox="1"/>
          <p:nvPr/>
        </p:nvSpPr>
        <p:spPr>
          <a:xfrm>
            <a:off x="4389120" y="5029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  <a:latin typeface="Arial"/>
              </a:rPr>
              <a:t>Learn more →</a:t>
            </a:r>
          </a:p>
        </p:txBody>
      </p:sp>
      <p:sp>
        <p:nvSpPr>
          <p:cNvPr id="27" name="Service_Card_3"/>
          <p:cNvSpPr/>
          <p:nvPr/>
        </p:nvSpPr>
        <p:spPr>
          <a:xfrm>
            <a:off x="7498079" y="2560320"/>
            <a:ext cx="3017520" cy="29260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Service_Icon_3"/>
          <p:cNvSpPr/>
          <p:nvPr/>
        </p:nvSpPr>
        <p:spPr>
          <a:xfrm>
            <a:off x="8549640" y="2834639"/>
            <a:ext cx="822960" cy="8229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Service_Title_3"/>
          <p:cNvSpPr txBox="1"/>
          <p:nvPr/>
        </p:nvSpPr>
        <p:spPr>
          <a:xfrm>
            <a:off x="7680959" y="38404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F3A"/>
                </a:solidFill>
                <a:latin typeface="Arial"/>
              </a:rPr>
              <a:t>Software Solutions</a:t>
            </a:r>
          </a:p>
        </p:txBody>
      </p:sp>
      <p:sp>
        <p:nvSpPr>
          <p:cNvPr id="30" name="Service_Desc_3"/>
          <p:cNvSpPr txBox="1"/>
          <p:nvPr/>
        </p:nvSpPr>
        <p:spPr>
          <a:xfrm>
            <a:off x="7680959" y="429767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Business management and automation applications.</a:t>
            </a:r>
          </a:p>
        </p:txBody>
      </p:sp>
      <p:sp>
        <p:nvSpPr>
          <p:cNvPr id="31" name="Service_Link_3"/>
          <p:cNvSpPr txBox="1"/>
          <p:nvPr/>
        </p:nvSpPr>
        <p:spPr>
          <a:xfrm>
            <a:off x="7680959" y="5029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  <a:latin typeface="Arial"/>
              </a:rPr>
              <a:t>Learn more →</a:t>
            </a:r>
          </a:p>
        </p:txBody>
      </p:sp>
      <p:sp>
        <p:nvSpPr>
          <p:cNvPr id="32" name="Service_Card_4"/>
          <p:cNvSpPr/>
          <p:nvPr/>
        </p:nvSpPr>
        <p:spPr>
          <a:xfrm>
            <a:off x="10789920" y="2560320"/>
            <a:ext cx="3017520" cy="29260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Service_Icon_4"/>
          <p:cNvSpPr/>
          <p:nvPr/>
        </p:nvSpPr>
        <p:spPr>
          <a:xfrm>
            <a:off x="11841480" y="2834639"/>
            <a:ext cx="822960" cy="8229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Service_Title_4"/>
          <p:cNvSpPr txBox="1"/>
          <p:nvPr/>
        </p:nvSpPr>
        <p:spPr>
          <a:xfrm>
            <a:off x="10972800" y="38404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F3A"/>
                </a:solidFill>
                <a:latin typeface="Arial"/>
              </a:rPr>
              <a:t>IT Consulting</a:t>
            </a:r>
          </a:p>
        </p:txBody>
      </p:sp>
      <p:sp>
        <p:nvSpPr>
          <p:cNvPr id="35" name="Service_Desc_4"/>
          <p:cNvSpPr txBox="1"/>
          <p:nvPr/>
        </p:nvSpPr>
        <p:spPr>
          <a:xfrm>
            <a:off x="10972800" y="429767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Strategy, implementation, and ongoing support.</a:t>
            </a:r>
          </a:p>
        </p:txBody>
      </p:sp>
      <p:sp>
        <p:nvSpPr>
          <p:cNvPr id="36" name="Service_Link_4"/>
          <p:cNvSpPr txBox="1"/>
          <p:nvPr/>
        </p:nvSpPr>
        <p:spPr>
          <a:xfrm>
            <a:off x="10972800" y="5029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  <a:latin typeface="Arial"/>
              </a:rPr>
              <a:t>Learn more →</a:t>
            </a:r>
          </a:p>
        </p:txBody>
      </p:sp>
      <p:sp>
        <p:nvSpPr>
          <p:cNvPr id="37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39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40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41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42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43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44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45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46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47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48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49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2/18: Home - Key Services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5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6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7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8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9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1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2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3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4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5" name="Section_Label"/>
          <p:cNvSpPr txBox="1"/>
          <p:nvPr/>
        </p:nvSpPr>
        <p:spPr>
          <a:xfrm>
            <a:off x="914400" y="109728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OUR APPROACH</a:t>
            </a:r>
          </a:p>
        </p:txBody>
      </p:sp>
      <p:sp>
        <p:nvSpPr>
          <p:cNvPr id="16" name="Section_Title"/>
          <p:cNvSpPr txBox="1"/>
          <p:nvPr/>
        </p:nvSpPr>
        <p:spPr>
          <a:xfrm>
            <a:off x="914400" y="14630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rial"/>
              </a:rPr>
              <a:t>Advisory • Build • Operate</a:t>
            </a:r>
          </a:p>
        </p:txBody>
      </p:sp>
      <p:sp>
        <p:nvSpPr>
          <p:cNvPr id="17" name="Section_Subtitle"/>
          <p:cNvSpPr txBox="1"/>
          <p:nvPr/>
        </p:nvSpPr>
        <p:spPr>
          <a:xfrm>
            <a:off x="18288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A complete end-to-end partnership from strategy to deployment to ongoing optimization.</a:t>
            </a:r>
          </a:p>
        </p:txBody>
      </p:sp>
      <p:sp>
        <p:nvSpPr>
          <p:cNvPr id="18" name="Approach_Card_1"/>
          <p:cNvSpPr/>
          <p:nvPr/>
        </p:nvSpPr>
        <p:spPr>
          <a:xfrm>
            <a:off x="1371600" y="3017520"/>
            <a:ext cx="36576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pproach_Icon_1"/>
          <p:cNvSpPr/>
          <p:nvPr/>
        </p:nvSpPr>
        <p:spPr>
          <a:xfrm>
            <a:off x="1737360" y="3291839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pproach_Title_1"/>
          <p:cNvSpPr txBox="1"/>
          <p:nvPr/>
        </p:nvSpPr>
        <p:spPr>
          <a:xfrm>
            <a:off x="164592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F3A"/>
                </a:solidFill>
                <a:latin typeface="Arial"/>
              </a:rPr>
              <a:t>Advisory</a:t>
            </a:r>
          </a:p>
        </p:txBody>
      </p:sp>
      <p:sp>
        <p:nvSpPr>
          <p:cNvPr id="21" name="Approach_Desc_1"/>
          <p:cNvSpPr txBox="1"/>
          <p:nvPr/>
        </p:nvSpPr>
        <p:spPr>
          <a:xfrm>
            <a:off x="1645920" y="475487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We analyze your business needs, assess opportunities, and design the right technical strategy to match your goals.</a:t>
            </a:r>
          </a:p>
        </p:txBody>
      </p:sp>
      <p:sp>
        <p:nvSpPr>
          <p:cNvPr id="22" name="Approach_Card_2"/>
          <p:cNvSpPr/>
          <p:nvPr/>
        </p:nvSpPr>
        <p:spPr>
          <a:xfrm>
            <a:off x="5486400" y="3017520"/>
            <a:ext cx="36576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pproach_Icon_2"/>
          <p:cNvSpPr/>
          <p:nvPr/>
        </p:nvSpPr>
        <p:spPr>
          <a:xfrm>
            <a:off x="5852160" y="3291839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pproach_Title_2"/>
          <p:cNvSpPr txBox="1"/>
          <p:nvPr/>
        </p:nvSpPr>
        <p:spPr>
          <a:xfrm>
            <a:off x="576072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F3A"/>
                </a:solidFill>
                <a:latin typeface="Arial"/>
              </a:rPr>
              <a:t>Build</a:t>
            </a:r>
          </a:p>
        </p:txBody>
      </p:sp>
      <p:sp>
        <p:nvSpPr>
          <p:cNvPr id="25" name="Approach_Desc_2"/>
          <p:cNvSpPr txBox="1"/>
          <p:nvPr/>
        </p:nvSpPr>
        <p:spPr>
          <a:xfrm>
            <a:off x="5760720" y="475487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From concept to deployment—our team develops world-class applications, APIs, platforms, and integrated systems using cutting-edge technologies.</a:t>
            </a:r>
          </a:p>
        </p:txBody>
      </p:sp>
      <p:sp>
        <p:nvSpPr>
          <p:cNvPr id="26" name="Approach_Card_3"/>
          <p:cNvSpPr/>
          <p:nvPr/>
        </p:nvSpPr>
        <p:spPr>
          <a:xfrm>
            <a:off x="9601200" y="3017520"/>
            <a:ext cx="36576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pproach_Icon_3"/>
          <p:cNvSpPr/>
          <p:nvPr/>
        </p:nvSpPr>
        <p:spPr>
          <a:xfrm>
            <a:off x="9966960" y="3291839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pproach_Title_3"/>
          <p:cNvSpPr txBox="1"/>
          <p:nvPr/>
        </p:nvSpPr>
        <p:spPr>
          <a:xfrm>
            <a:off x="9875520" y="4206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F3A"/>
                </a:solidFill>
                <a:latin typeface="Arial"/>
              </a:rPr>
              <a:t>Operate</a:t>
            </a:r>
          </a:p>
        </p:txBody>
      </p:sp>
      <p:sp>
        <p:nvSpPr>
          <p:cNvPr id="29" name="Approach_Desc_3"/>
          <p:cNvSpPr txBox="1"/>
          <p:nvPr/>
        </p:nvSpPr>
        <p:spPr>
          <a:xfrm>
            <a:off x="9875520" y="475487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We ensure your product stays fast, secure, monitored, and continuously optimized with long-term support and proactive improvements.</a:t>
            </a:r>
          </a:p>
        </p:txBody>
      </p:sp>
      <p:sp>
        <p:nvSpPr>
          <p:cNvPr id="30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3F4F6"/>
                </a:solidFill>
                <a:latin typeface="Arial"/>
              </a:rPr>
              <a:t>Slide 3/18: Home - Our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5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6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7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8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9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1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2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3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4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5" name="Section_Label"/>
          <p:cNvSpPr txBox="1"/>
          <p:nvPr/>
        </p:nvSpPr>
        <p:spPr>
          <a:xfrm>
            <a:off x="914400" y="109728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SPECIALIZED SOLUTIONS</a:t>
            </a:r>
          </a:p>
        </p:txBody>
      </p:sp>
      <p:sp>
        <p:nvSpPr>
          <p:cNvPr id="16" name="Section_Title"/>
          <p:cNvSpPr txBox="1"/>
          <p:nvPr/>
        </p:nvSpPr>
        <p:spPr>
          <a:xfrm>
            <a:off x="914400" y="141732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F3A"/>
                </a:solidFill>
                <a:latin typeface="Arial"/>
              </a:rPr>
              <a:t>Real Estate IT Solutions – Streamline Your Property Business</a:t>
            </a:r>
          </a:p>
        </p:txBody>
      </p:sp>
      <p:sp>
        <p:nvSpPr>
          <p:cNvPr id="17" name="Section_Subtitle"/>
          <p:cNvSpPr txBox="1"/>
          <p:nvPr/>
        </p:nvSpPr>
        <p:spPr>
          <a:xfrm>
            <a:off x="182880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Arial"/>
              </a:rPr>
              <a:t>Specialized IT services designed for real estate agencies and property managers to manage listings, track leads, and grow their business efficiently.</a:t>
            </a:r>
          </a:p>
        </p:txBody>
      </p:sp>
      <p:sp>
        <p:nvSpPr>
          <p:cNvPr id="18" name="Feature_Card_1"/>
          <p:cNvSpPr/>
          <p:nvPr/>
        </p:nvSpPr>
        <p:spPr>
          <a:xfrm>
            <a:off x="914400" y="3017520"/>
            <a:ext cx="3017520" cy="20116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eature_Icon_1"/>
          <p:cNvSpPr/>
          <p:nvPr/>
        </p:nvSpPr>
        <p:spPr>
          <a:xfrm>
            <a:off x="1188720" y="3291839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eature_Title_1"/>
          <p:cNvSpPr txBox="1"/>
          <p:nvPr/>
        </p:nvSpPr>
        <p:spPr>
          <a:xfrm>
            <a:off x="1097280" y="4023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  <a:latin typeface="Arial"/>
              </a:rPr>
              <a:t>Centralized CRM</a:t>
            </a:r>
          </a:p>
        </p:txBody>
      </p:sp>
      <p:sp>
        <p:nvSpPr>
          <p:cNvPr id="21" name="Feature_Desc_1"/>
          <p:cNvSpPr txBox="1"/>
          <p:nvPr/>
        </p:nvSpPr>
        <p:spPr>
          <a:xfrm>
            <a:off x="1097280" y="4389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Manage clients, leads, and follow-ups in one unified platform</a:t>
            </a:r>
          </a:p>
        </p:txBody>
      </p:sp>
      <p:sp>
        <p:nvSpPr>
          <p:cNvPr id="22" name="Feature_Card_2"/>
          <p:cNvSpPr/>
          <p:nvPr/>
        </p:nvSpPr>
        <p:spPr>
          <a:xfrm>
            <a:off x="4206240" y="3017520"/>
            <a:ext cx="3017520" cy="20116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eature_Icon_2"/>
          <p:cNvSpPr/>
          <p:nvPr/>
        </p:nvSpPr>
        <p:spPr>
          <a:xfrm>
            <a:off x="4480559" y="3291839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eature_Title_2"/>
          <p:cNvSpPr txBox="1"/>
          <p:nvPr/>
        </p:nvSpPr>
        <p:spPr>
          <a:xfrm>
            <a:off x="4389120" y="4023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  <a:latin typeface="Arial"/>
              </a:rPr>
              <a:t>Property Management</a:t>
            </a:r>
          </a:p>
        </p:txBody>
      </p:sp>
      <p:sp>
        <p:nvSpPr>
          <p:cNvPr id="25" name="Feature_Desc_2"/>
          <p:cNvSpPr txBox="1"/>
          <p:nvPr/>
        </p:nvSpPr>
        <p:spPr>
          <a:xfrm>
            <a:off x="4389120" y="4389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Automated tools for listings, marketing, and tenant communication</a:t>
            </a:r>
          </a:p>
        </p:txBody>
      </p:sp>
      <p:sp>
        <p:nvSpPr>
          <p:cNvPr id="26" name="Feature_Card_3"/>
          <p:cNvSpPr/>
          <p:nvPr/>
        </p:nvSpPr>
        <p:spPr>
          <a:xfrm>
            <a:off x="7498079" y="3017520"/>
            <a:ext cx="3017520" cy="20116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eature_Icon_3"/>
          <p:cNvSpPr/>
          <p:nvPr/>
        </p:nvSpPr>
        <p:spPr>
          <a:xfrm>
            <a:off x="7772400" y="3291839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eature_Title_3"/>
          <p:cNvSpPr txBox="1"/>
          <p:nvPr/>
        </p:nvSpPr>
        <p:spPr>
          <a:xfrm>
            <a:off x="7680959" y="4023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  <a:latin typeface="Arial"/>
              </a:rPr>
              <a:t>Analytics &amp; Insights</a:t>
            </a:r>
          </a:p>
        </p:txBody>
      </p:sp>
      <p:sp>
        <p:nvSpPr>
          <p:cNvPr id="29" name="Feature_Desc_3"/>
          <p:cNvSpPr txBox="1"/>
          <p:nvPr/>
        </p:nvSpPr>
        <p:spPr>
          <a:xfrm>
            <a:off x="7680959" y="4389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Real-time dashboards and performance metrics for data-driven decisions</a:t>
            </a:r>
          </a:p>
        </p:txBody>
      </p:sp>
      <p:sp>
        <p:nvSpPr>
          <p:cNvPr id="30" name="Feature_Card_4"/>
          <p:cNvSpPr/>
          <p:nvPr/>
        </p:nvSpPr>
        <p:spPr>
          <a:xfrm>
            <a:off x="10789920" y="3017520"/>
            <a:ext cx="3017520" cy="20116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eature_Icon_4"/>
          <p:cNvSpPr/>
          <p:nvPr/>
        </p:nvSpPr>
        <p:spPr>
          <a:xfrm>
            <a:off x="11064240" y="3291839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eature_Title_4"/>
          <p:cNvSpPr txBox="1"/>
          <p:nvPr/>
        </p:nvSpPr>
        <p:spPr>
          <a:xfrm>
            <a:off x="10972800" y="4023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  <a:latin typeface="Arial"/>
              </a:rPr>
              <a:t>MLS Integration</a:t>
            </a:r>
          </a:p>
        </p:txBody>
      </p:sp>
      <p:sp>
        <p:nvSpPr>
          <p:cNvPr id="33" name="Feature_Desc_4"/>
          <p:cNvSpPr txBox="1"/>
          <p:nvPr/>
        </p:nvSpPr>
        <p:spPr>
          <a:xfrm>
            <a:off x="10972800" y="4389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Seamless integration with MLS and property portals</a:t>
            </a:r>
          </a:p>
        </p:txBody>
      </p:sp>
      <p:sp>
        <p:nvSpPr>
          <p:cNvPr id="34" name="Button_RealEstate"/>
          <p:cNvSpPr/>
          <p:nvPr/>
        </p:nvSpPr>
        <p:spPr>
          <a:xfrm>
            <a:off x="5029200" y="5486400"/>
            <a:ext cx="4572000" cy="5486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Learn More About Real Estate Solutions</a:t>
            </a:r>
          </a:p>
        </p:txBody>
      </p:sp>
      <p:sp>
        <p:nvSpPr>
          <p:cNvPr id="35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37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38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39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40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41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42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43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44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45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46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47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4/18: Home - Real Estate IT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5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6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7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8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9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1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2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3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4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5" name="Section_Label"/>
          <p:cNvSpPr txBox="1"/>
          <p:nvPr/>
        </p:nvSpPr>
        <p:spPr>
          <a:xfrm>
            <a:off x="914400" y="109728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TECHNOLOGIES &amp; TOOLS</a:t>
            </a:r>
          </a:p>
        </p:txBody>
      </p:sp>
      <p:sp>
        <p:nvSpPr>
          <p:cNvPr id="16" name="Section_Title"/>
          <p:cNvSpPr txBox="1"/>
          <p:nvPr/>
        </p:nvSpPr>
        <p:spPr>
          <a:xfrm>
            <a:off x="914400" y="1417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F3A"/>
                </a:solidFill>
                <a:latin typeface="Arial"/>
              </a:rPr>
              <a:t>Modern, Reliable Technology Stacks</a:t>
            </a:r>
          </a:p>
        </p:txBody>
      </p:sp>
      <p:sp>
        <p:nvSpPr>
          <p:cNvPr id="17" name="Section_Subtitle"/>
          <p:cNvSpPr txBox="1"/>
          <p:nvPr/>
        </p:nvSpPr>
        <p:spPr>
          <a:xfrm>
            <a:off x="18288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Arial"/>
              </a:rPr>
              <a:t>We work with modern, reliable technology stacks to deliver solutions that are stable, scalable, and future-proof.</a:t>
            </a:r>
          </a:p>
        </p:txBody>
      </p:sp>
      <p:sp>
        <p:nvSpPr>
          <p:cNvPr id="18" name="Tech_Card_1"/>
          <p:cNvSpPr/>
          <p:nvPr/>
        </p:nvSpPr>
        <p:spPr>
          <a:xfrm>
            <a:off x="1371600" y="2926080"/>
            <a:ext cx="2743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ch_Icon_1"/>
          <p:cNvSpPr/>
          <p:nvPr/>
        </p:nvSpPr>
        <p:spPr>
          <a:xfrm>
            <a:off x="2286000" y="3108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ch_Name_1"/>
          <p:cNvSpPr txBox="1"/>
          <p:nvPr/>
        </p:nvSpPr>
        <p:spPr>
          <a:xfrm>
            <a:off x="1554480" y="3703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F3A"/>
                </a:solidFill>
                <a:latin typeface="Arial"/>
              </a:rPr>
              <a:t>React.js / Next.js</a:t>
            </a:r>
          </a:p>
        </p:txBody>
      </p:sp>
      <p:sp>
        <p:nvSpPr>
          <p:cNvPr id="21" name="Tech_Card_2"/>
          <p:cNvSpPr/>
          <p:nvPr/>
        </p:nvSpPr>
        <p:spPr>
          <a:xfrm>
            <a:off x="4480560" y="2926080"/>
            <a:ext cx="2743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ch_Icon_2"/>
          <p:cNvSpPr/>
          <p:nvPr/>
        </p:nvSpPr>
        <p:spPr>
          <a:xfrm>
            <a:off x="5394960" y="3108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ch_Name_2"/>
          <p:cNvSpPr txBox="1"/>
          <p:nvPr/>
        </p:nvSpPr>
        <p:spPr>
          <a:xfrm>
            <a:off x="4663440" y="3703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F3A"/>
                </a:solidFill>
                <a:latin typeface="Arial"/>
              </a:rPr>
              <a:t>Node.js / Express</a:t>
            </a:r>
          </a:p>
        </p:txBody>
      </p:sp>
      <p:sp>
        <p:nvSpPr>
          <p:cNvPr id="24" name="Tech_Card_3"/>
          <p:cNvSpPr/>
          <p:nvPr/>
        </p:nvSpPr>
        <p:spPr>
          <a:xfrm>
            <a:off x="7589520" y="2926080"/>
            <a:ext cx="2743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ch_Icon_3"/>
          <p:cNvSpPr/>
          <p:nvPr/>
        </p:nvSpPr>
        <p:spPr>
          <a:xfrm>
            <a:off x="8503920" y="3108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ch_Name_3"/>
          <p:cNvSpPr txBox="1"/>
          <p:nvPr/>
        </p:nvSpPr>
        <p:spPr>
          <a:xfrm>
            <a:off x="7772400" y="3703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F3A"/>
                </a:solidFill>
                <a:latin typeface="Arial"/>
              </a:rPr>
              <a:t>Python / Django / FastAPI</a:t>
            </a:r>
          </a:p>
        </p:txBody>
      </p:sp>
      <p:sp>
        <p:nvSpPr>
          <p:cNvPr id="27" name="Tech_Card_4"/>
          <p:cNvSpPr/>
          <p:nvPr/>
        </p:nvSpPr>
        <p:spPr>
          <a:xfrm>
            <a:off x="10698480" y="2926080"/>
            <a:ext cx="2743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ch_Icon_4"/>
          <p:cNvSpPr/>
          <p:nvPr/>
        </p:nvSpPr>
        <p:spPr>
          <a:xfrm>
            <a:off x="11612880" y="310896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ch_Name_4"/>
          <p:cNvSpPr txBox="1"/>
          <p:nvPr/>
        </p:nvSpPr>
        <p:spPr>
          <a:xfrm>
            <a:off x="10881359" y="3703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F3A"/>
                </a:solidFill>
                <a:latin typeface="Arial"/>
              </a:rPr>
              <a:t>Flutter / React Native</a:t>
            </a:r>
          </a:p>
        </p:txBody>
      </p:sp>
      <p:sp>
        <p:nvSpPr>
          <p:cNvPr id="30" name="Tech_Card_5"/>
          <p:cNvSpPr/>
          <p:nvPr/>
        </p:nvSpPr>
        <p:spPr>
          <a:xfrm>
            <a:off x="1371600" y="4572000"/>
            <a:ext cx="2743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ch_Icon_5"/>
          <p:cNvSpPr/>
          <p:nvPr/>
        </p:nvSpPr>
        <p:spPr>
          <a:xfrm>
            <a:off x="2286000" y="475488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ch_Name_5"/>
          <p:cNvSpPr txBox="1"/>
          <p:nvPr/>
        </p:nvSpPr>
        <p:spPr>
          <a:xfrm>
            <a:off x="155448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F3A"/>
                </a:solidFill>
                <a:latin typeface="Arial"/>
              </a:rPr>
              <a:t>AWS / Google Cloud / Azure</a:t>
            </a:r>
          </a:p>
        </p:txBody>
      </p:sp>
      <p:sp>
        <p:nvSpPr>
          <p:cNvPr id="33" name="Tech_Card_6"/>
          <p:cNvSpPr/>
          <p:nvPr/>
        </p:nvSpPr>
        <p:spPr>
          <a:xfrm>
            <a:off x="4480560" y="4572000"/>
            <a:ext cx="2743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ch_Icon_6"/>
          <p:cNvSpPr/>
          <p:nvPr/>
        </p:nvSpPr>
        <p:spPr>
          <a:xfrm>
            <a:off x="5394960" y="475488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ch_Name_6"/>
          <p:cNvSpPr txBox="1"/>
          <p:nvPr/>
        </p:nvSpPr>
        <p:spPr>
          <a:xfrm>
            <a:off x="466344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F3A"/>
                </a:solidFill>
                <a:latin typeface="Arial"/>
              </a:rPr>
              <a:t>Docker / Kubernetes</a:t>
            </a:r>
          </a:p>
        </p:txBody>
      </p:sp>
      <p:sp>
        <p:nvSpPr>
          <p:cNvPr id="36" name="Tech_Card_7"/>
          <p:cNvSpPr/>
          <p:nvPr/>
        </p:nvSpPr>
        <p:spPr>
          <a:xfrm>
            <a:off x="7589520" y="4572000"/>
            <a:ext cx="2743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ch_Icon_7"/>
          <p:cNvSpPr/>
          <p:nvPr/>
        </p:nvSpPr>
        <p:spPr>
          <a:xfrm>
            <a:off x="8503920" y="475488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ch_Name_7"/>
          <p:cNvSpPr txBox="1"/>
          <p:nvPr/>
        </p:nvSpPr>
        <p:spPr>
          <a:xfrm>
            <a:off x="7772400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F3A"/>
                </a:solidFill>
                <a:latin typeface="Arial"/>
              </a:rPr>
              <a:t>CI/CD &amp; DevOps Automation</a:t>
            </a:r>
          </a:p>
        </p:txBody>
      </p:sp>
      <p:sp>
        <p:nvSpPr>
          <p:cNvPr id="39" name="Tech_Card_8"/>
          <p:cNvSpPr/>
          <p:nvPr/>
        </p:nvSpPr>
        <p:spPr>
          <a:xfrm>
            <a:off x="10698480" y="4572000"/>
            <a:ext cx="2743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ch_Icon_8"/>
          <p:cNvSpPr/>
          <p:nvPr/>
        </p:nvSpPr>
        <p:spPr>
          <a:xfrm>
            <a:off x="11612880" y="475488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ch_Name_8"/>
          <p:cNvSpPr txBox="1"/>
          <p:nvPr/>
        </p:nvSpPr>
        <p:spPr>
          <a:xfrm>
            <a:off x="10881359" y="5349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F3A"/>
                </a:solidFill>
                <a:latin typeface="Arial"/>
              </a:rPr>
              <a:t>PostgreSQL / MongoDB / Redis</a:t>
            </a:r>
          </a:p>
        </p:txBody>
      </p:sp>
      <p:sp>
        <p:nvSpPr>
          <p:cNvPr id="42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44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45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46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47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48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49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50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51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52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53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54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5/18: Home - Technologies &amp;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5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6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7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8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9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1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2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3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4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5" name="Section_Label"/>
          <p:cNvSpPr txBox="1"/>
          <p:nvPr/>
        </p:nvSpPr>
        <p:spPr>
          <a:xfrm>
            <a:off x="914400" y="109728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PORTFOLIO HIGHLIGHTS</a:t>
            </a:r>
          </a:p>
        </p:txBody>
      </p:sp>
      <p:sp>
        <p:nvSpPr>
          <p:cNvPr id="16" name="Section_Title"/>
          <p:cNvSpPr txBox="1"/>
          <p:nvPr/>
        </p:nvSpPr>
        <p:spPr>
          <a:xfrm>
            <a:off x="914400" y="1417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Digital Solutions We've Built</a:t>
            </a:r>
          </a:p>
        </p:txBody>
      </p:sp>
      <p:sp>
        <p:nvSpPr>
          <p:cNvPr id="17" name="Section_Subtitle"/>
          <p:cNvSpPr txBox="1"/>
          <p:nvPr/>
        </p:nvSpPr>
        <p:spPr>
          <a:xfrm>
            <a:off x="18288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A look at some of the digital solutions we've built for clients across different industries.</a:t>
            </a:r>
          </a:p>
        </p:txBody>
      </p:sp>
      <p:sp>
        <p:nvSpPr>
          <p:cNvPr id="18" name="Portfolio_Card_1"/>
          <p:cNvSpPr/>
          <p:nvPr/>
        </p:nvSpPr>
        <p:spPr>
          <a:xfrm>
            <a:off x="1371600" y="2926080"/>
            <a:ext cx="36576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ortfolio_Icon_1"/>
          <p:cNvSpPr/>
          <p:nvPr/>
        </p:nvSpPr>
        <p:spPr>
          <a:xfrm>
            <a:off x="1737360" y="3200400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ortfolio_Title_1"/>
          <p:cNvSpPr txBox="1"/>
          <p:nvPr/>
        </p:nvSpPr>
        <p:spPr>
          <a:xfrm>
            <a:off x="164592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3A"/>
                </a:solidFill>
                <a:latin typeface="Arial"/>
              </a:rPr>
              <a:t>Smart Booking Platform</a:t>
            </a:r>
          </a:p>
        </p:txBody>
      </p:sp>
      <p:sp>
        <p:nvSpPr>
          <p:cNvPr id="21" name="Portfolio_Category_1"/>
          <p:cNvSpPr txBox="1"/>
          <p:nvPr/>
        </p:nvSpPr>
        <p:spPr>
          <a:xfrm>
            <a:off x="164592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SaaS</a:t>
            </a:r>
          </a:p>
        </p:txBody>
      </p:sp>
      <p:sp>
        <p:nvSpPr>
          <p:cNvPr id="22" name="Portfolio_Desc_1"/>
          <p:cNvSpPr txBox="1"/>
          <p:nvPr/>
        </p:nvSpPr>
        <p:spPr>
          <a:xfrm>
            <a:off x="1645920" y="47091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Modern booking engine with real-time availability, secure payments, and an optimized dashboard.</a:t>
            </a:r>
          </a:p>
        </p:txBody>
      </p:sp>
      <p:sp>
        <p:nvSpPr>
          <p:cNvPr id="23" name="Portfolio_Card_2"/>
          <p:cNvSpPr/>
          <p:nvPr/>
        </p:nvSpPr>
        <p:spPr>
          <a:xfrm>
            <a:off x="5486400" y="2926080"/>
            <a:ext cx="36576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ortfolio_Icon_2"/>
          <p:cNvSpPr/>
          <p:nvPr/>
        </p:nvSpPr>
        <p:spPr>
          <a:xfrm>
            <a:off x="5852160" y="3200400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ortfolio_Title_2"/>
          <p:cNvSpPr txBox="1"/>
          <p:nvPr/>
        </p:nvSpPr>
        <p:spPr>
          <a:xfrm>
            <a:off x="576072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3A"/>
                </a:solidFill>
                <a:latin typeface="Arial"/>
              </a:rPr>
              <a:t>AI Workflow Automation</a:t>
            </a:r>
          </a:p>
        </p:txBody>
      </p:sp>
      <p:sp>
        <p:nvSpPr>
          <p:cNvPr id="26" name="Portfolio_Category_2"/>
          <p:cNvSpPr txBox="1"/>
          <p:nvPr/>
        </p:nvSpPr>
        <p:spPr>
          <a:xfrm>
            <a:off x="576072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Enterprise</a:t>
            </a:r>
          </a:p>
        </p:txBody>
      </p:sp>
      <p:sp>
        <p:nvSpPr>
          <p:cNvPr id="27" name="Portfolio_Desc_2"/>
          <p:cNvSpPr txBox="1"/>
          <p:nvPr/>
        </p:nvSpPr>
        <p:spPr>
          <a:xfrm>
            <a:off x="5760720" y="47091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Automated data processing system powered by machine learning, reducing manual tasks by 60%.</a:t>
            </a:r>
          </a:p>
        </p:txBody>
      </p:sp>
      <p:sp>
        <p:nvSpPr>
          <p:cNvPr id="28" name="Portfolio_Card_3"/>
          <p:cNvSpPr/>
          <p:nvPr/>
        </p:nvSpPr>
        <p:spPr>
          <a:xfrm>
            <a:off x="9601200" y="2926080"/>
            <a:ext cx="36576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Portfolio_Icon_3"/>
          <p:cNvSpPr/>
          <p:nvPr/>
        </p:nvSpPr>
        <p:spPr>
          <a:xfrm>
            <a:off x="9966960" y="3200400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Portfolio_Title_3"/>
          <p:cNvSpPr txBox="1"/>
          <p:nvPr/>
        </p:nvSpPr>
        <p:spPr>
          <a:xfrm>
            <a:off x="987552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3A"/>
                </a:solidFill>
                <a:latin typeface="Arial"/>
              </a:rPr>
              <a:t>E-Commerce PWA</a:t>
            </a:r>
          </a:p>
        </p:txBody>
      </p:sp>
      <p:sp>
        <p:nvSpPr>
          <p:cNvPr id="31" name="Portfolio_Category_3"/>
          <p:cNvSpPr txBox="1"/>
          <p:nvPr/>
        </p:nvSpPr>
        <p:spPr>
          <a:xfrm>
            <a:off x="987552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Retail</a:t>
            </a:r>
          </a:p>
        </p:txBody>
      </p:sp>
      <p:sp>
        <p:nvSpPr>
          <p:cNvPr id="32" name="Portfolio_Desc_3"/>
          <p:cNvSpPr txBox="1"/>
          <p:nvPr/>
        </p:nvSpPr>
        <p:spPr>
          <a:xfrm>
            <a:off x="9875520" y="47091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Lightning-fast shopping experience with a modern UI and high conversion performance.</a:t>
            </a:r>
          </a:p>
        </p:txBody>
      </p:sp>
      <p:sp>
        <p:nvSpPr>
          <p:cNvPr id="33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3F4F6"/>
                </a:solidFill>
                <a:latin typeface="Arial"/>
              </a:rPr>
              <a:t>Slide 6/18: Home - Portfolio Highlights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5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6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7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8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9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1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2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3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4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5" name="Section_Label"/>
          <p:cNvSpPr txBox="1"/>
          <p:nvPr/>
        </p:nvSpPr>
        <p:spPr>
          <a:xfrm>
            <a:off x="914400" y="109728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END-TO-END MANAGED SOLUTIONS</a:t>
            </a:r>
          </a:p>
        </p:txBody>
      </p:sp>
      <p:sp>
        <p:nvSpPr>
          <p:cNvPr id="16" name="Section_Title"/>
          <p:cNvSpPr txBox="1"/>
          <p:nvPr/>
        </p:nvSpPr>
        <p:spPr>
          <a:xfrm>
            <a:off x="914400" y="141732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A1F3A"/>
                </a:solidFill>
                <a:latin typeface="Arial"/>
              </a:rPr>
              <a:t>Cloud Solutions That Scale With Your Business</a:t>
            </a:r>
          </a:p>
        </p:txBody>
      </p:sp>
      <p:sp>
        <p:nvSpPr>
          <p:cNvPr id="17" name="Section_Subtitle"/>
          <p:cNvSpPr txBox="1"/>
          <p:nvPr/>
        </p:nvSpPr>
        <p:spPr>
          <a:xfrm>
            <a:off x="1371600" y="21488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rial"/>
              </a:rPr>
              <a:t>From planning to continuous optimization, we handle everything — architecture design, seamless migration, proactive monitoring, and managed services across AWS, Azure, GCP, and hybrid infrastructures — helping you innovate faster while reducing operational complexity.</a:t>
            </a:r>
          </a:p>
        </p:txBody>
      </p:sp>
      <p:sp>
        <p:nvSpPr>
          <p:cNvPr id="18" name="Stat_Icon_1"/>
          <p:cNvSpPr/>
          <p:nvPr/>
        </p:nvSpPr>
        <p:spPr>
          <a:xfrm>
            <a:off x="2103120" y="3657600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tat_Number_1"/>
          <p:cNvSpPr txBox="1"/>
          <p:nvPr/>
        </p:nvSpPr>
        <p:spPr>
          <a:xfrm>
            <a:off x="137160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Arial"/>
              </a:rPr>
              <a:t>4000+</a:t>
            </a:r>
          </a:p>
        </p:txBody>
      </p:sp>
      <p:sp>
        <p:nvSpPr>
          <p:cNvPr id="20" name="Stat_Label_1"/>
          <p:cNvSpPr txBox="1"/>
          <p:nvPr/>
        </p:nvSpPr>
        <p:spPr>
          <a:xfrm>
            <a:off x="1371600" y="5166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rial"/>
              </a:rPr>
              <a:t>Successful Projects</a:t>
            </a:r>
          </a:p>
        </p:txBody>
      </p:sp>
      <p:sp>
        <p:nvSpPr>
          <p:cNvPr id="21" name="Stat_Icon_2"/>
          <p:cNvSpPr/>
          <p:nvPr/>
        </p:nvSpPr>
        <p:spPr>
          <a:xfrm>
            <a:off x="5303520" y="3657600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tat_Number_2"/>
          <p:cNvSpPr txBox="1"/>
          <p:nvPr/>
        </p:nvSpPr>
        <p:spPr>
          <a:xfrm>
            <a:off x="457200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Arial"/>
              </a:rPr>
              <a:t>11+ Year</a:t>
            </a:r>
          </a:p>
        </p:txBody>
      </p:sp>
      <p:sp>
        <p:nvSpPr>
          <p:cNvPr id="23" name="Stat_Label_2"/>
          <p:cNvSpPr txBox="1"/>
          <p:nvPr/>
        </p:nvSpPr>
        <p:spPr>
          <a:xfrm>
            <a:off x="4572000" y="5166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rial"/>
              </a:rPr>
              <a:t>Experience</a:t>
            </a:r>
          </a:p>
        </p:txBody>
      </p:sp>
      <p:sp>
        <p:nvSpPr>
          <p:cNvPr id="24" name="Stat_Icon_3"/>
          <p:cNvSpPr/>
          <p:nvPr/>
        </p:nvSpPr>
        <p:spPr>
          <a:xfrm>
            <a:off x="8503920" y="3657600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tat_Number_3"/>
          <p:cNvSpPr txBox="1"/>
          <p:nvPr/>
        </p:nvSpPr>
        <p:spPr>
          <a:xfrm>
            <a:off x="777240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Arial"/>
              </a:rPr>
              <a:t>500+</a:t>
            </a:r>
          </a:p>
        </p:txBody>
      </p:sp>
      <p:sp>
        <p:nvSpPr>
          <p:cNvPr id="26" name="Stat_Label_3"/>
          <p:cNvSpPr txBox="1"/>
          <p:nvPr/>
        </p:nvSpPr>
        <p:spPr>
          <a:xfrm>
            <a:off x="7772400" y="5166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rial"/>
              </a:rPr>
              <a:t>Clients</a:t>
            </a:r>
          </a:p>
        </p:txBody>
      </p:sp>
      <p:sp>
        <p:nvSpPr>
          <p:cNvPr id="27" name="Stat_Icon_4"/>
          <p:cNvSpPr/>
          <p:nvPr/>
        </p:nvSpPr>
        <p:spPr>
          <a:xfrm>
            <a:off x="11704320" y="3657600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Stat_Number_4"/>
          <p:cNvSpPr txBox="1"/>
          <p:nvPr/>
        </p:nvSpPr>
        <p:spPr>
          <a:xfrm>
            <a:off x="1097280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Arial"/>
              </a:rPr>
              <a:t>80+</a:t>
            </a:r>
          </a:p>
        </p:txBody>
      </p:sp>
      <p:sp>
        <p:nvSpPr>
          <p:cNvPr id="29" name="Stat_Label_4"/>
          <p:cNvSpPr txBox="1"/>
          <p:nvPr/>
        </p:nvSpPr>
        <p:spPr>
          <a:xfrm>
            <a:off x="10972800" y="5166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rial"/>
              </a:rPr>
              <a:t>From Reference</a:t>
            </a:r>
          </a:p>
        </p:txBody>
      </p:sp>
      <p:sp>
        <p:nvSpPr>
          <p:cNvPr id="30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32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33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34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35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36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37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38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39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40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41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42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7/18: Home - Cloud Solutions &amp; Stats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5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6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7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8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9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1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2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3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4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5" name="Section_Label"/>
          <p:cNvSpPr txBox="1"/>
          <p:nvPr/>
        </p:nvSpPr>
        <p:spPr>
          <a:xfrm>
            <a:off x="914400" y="109728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CLIENT TESTIMONIALS</a:t>
            </a:r>
          </a:p>
        </p:txBody>
      </p:sp>
      <p:sp>
        <p:nvSpPr>
          <p:cNvPr id="16" name="Section_Title"/>
          <p:cNvSpPr txBox="1"/>
          <p:nvPr/>
        </p:nvSpPr>
        <p:spPr>
          <a:xfrm>
            <a:off x="914400" y="1417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rial"/>
              </a:rPr>
              <a:t>What Our Clients Say</a:t>
            </a:r>
          </a:p>
        </p:txBody>
      </p:sp>
      <p:sp>
        <p:nvSpPr>
          <p:cNvPr id="17" name="Section_Subtitle"/>
          <p:cNvSpPr txBox="1"/>
          <p:nvPr/>
        </p:nvSpPr>
        <p:spPr>
          <a:xfrm>
            <a:off x="18288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Trusted by leading companies worldwide for delivering exceptional digital solutions</a:t>
            </a:r>
          </a:p>
        </p:txBody>
      </p:sp>
      <p:sp>
        <p:nvSpPr>
          <p:cNvPr id="18" name="Testimonial_Card"/>
          <p:cNvSpPr/>
          <p:nvPr/>
        </p:nvSpPr>
        <p:spPr>
          <a:xfrm>
            <a:off x="2743200" y="2926080"/>
            <a:ext cx="91440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stimonial_Stars"/>
          <p:cNvSpPr txBox="1"/>
          <p:nvPr/>
        </p:nvSpPr>
        <p:spPr>
          <a:xfrm>
            <a:off x="32004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0B981"/>
                </a:solidFill>
                <a:latin typeface="Arial"/>
              </a:rPr>
              <a:t>★ ★ ★ ★ ★</a:t>
            </a:r>
          </a:p>
        </p:txBody>
      </p:sp>
      <p:sp>
        <p:nvSpPr>
          <p:cNvPr id="20" name="Testimonial_Text"/>
          <p:cNvSpPr txBox="1"/>
          <p:nvPr/>
        </p:nvSpPr>
        <p:spPr>
          <a:xfrm>
            <a:off x="3200400" y="3749039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Arial"/>
              </a:rPr>
              <a:t>"DrivePixel delivered a flawless system that scaled our operations instantly. Their technical expertise and attention to detail made all the difference in our success."</a:t>
            </a:r>
          </a:p>
        </p:txBody>
      </p:sp>
      <p:sp>
        <p:nvSpPr>
          <p:cNvPr id="21" name="Testimonial_Author"/>
          <p:cNvSpPr txBox="1"/>
          <p:nvPr/>
        </p:nvSpPr>
        <p:spPr>
          <a:xfrm>
            <a:off x="3200400" y="5303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F3A"/>
                </a:solidFill>
                <a:latin typeface="Arial"/>
              </a:rPr>
              <a:t>CEO, Digital Venture</a:t>
            </a:r>
          </a:p>
        </p:txBody>
      </p:sp>
      <p:sp>
        <p:nvSpPr>
          <p:cNvPr id="22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3F4F6"/>
                </a:solidFill>
                <a:latin typeface="Arial"/>
              </a:rPr>
              <a:t>Slide 8/18: Home - Client Testimonials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5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6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7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8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9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1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2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3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4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5" name="CTA_Title"/>
          <p:cNvSpPr txBox="1"/>
          <p:nvPr/>
        </p:nvSpPr>
        <p:spPr>
          <a:xfrm>
            <a:off x="1828800" y="2286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A1F3A"/>
                </a:solidFill>
                <a:latin typeface="Arial"/>
              </a:rPr>
              <a:t>Ready to Build Something Powerful?</a:t>
            </a:r>
          </a:p>
        </p:txBody>
      </p:sp>
      <p:sp>
        <p:nvSpPr>
          <p:cNvPr id="16" name="CTA_Subtitle"/>
          <p:cNvSpPr txBox="1"/>
          <p:nvPr/>
        </p:nvSpPr>
        <p:spPr>
          <a:xfrm>
            <a:off x="27432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Arial"/>
              </a:rPr>
              <a:t>Let's discuss your goals and create a technology strategy that drives real results.</a:t>
            </a:r>
          </a:p>
        </p:txBody>
      </p:sp>
      <p:sp>
        <p:nvSpPr>
          <p:cNvPr id="17" name="Button_Consultation"/>
          <p:cNvSpPr/>
          <p:nvPr/>
        </p:nvSpPr>
        <p:spPr>
          <a:xfrm>
            <a:off x="4114800" y="4389120"/>
            <a:ext cx="2926080" cy="5943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Get a Free Consultation</a:t>
            </a:r>
          </a:p>
        </p:txBody>
      </p:sp>
      <p:sp>
        <p:nvSpPr>
          <p:cNvPr id="18" name="Button_Quote"/>
          <p:cNvSpPr/>
          <p:nvPr/>
        </p:nvSpPr>
        <p:spPr>
          <a:xfrm>
            <a:off x="7589520" y="4389120"/>
            <a:ext cx="2926080" cy="594360"/>
          </a:xfrm>
          <a:prstGeom prst="round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Request a Project Quote</a:t>
            </a:r>
          </a:p>
        </p:txBody>
      </p:sp>
      <p:sp>
        <p:nvSpPr>
          <p:cNvPr id="19" name="CTA_Note"/>
          <p:cNvSpPr txBox="1"/>
          <p:nvPr/>
        </p:nvSpPr>
        <p:spPr>
          <a:xfrm>
            <a:off x="27432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Arial"/>
              </a:rPr>
              <a:t>Or speak directly with one of our specialists to discuss your goals.</a:t>
            </a:r>
          </a:p>
        </p:txBody>
      </p:sp>
      <p:sp>
        <p:nvSpPr>
          <p:cNvPr id="20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22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23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24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25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26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27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28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29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30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31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32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9/18: Home - Final CTA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ro_Background"/>
          <p:cNvSpPr/>
          <p:nvPr/>
        </p:nvSpPr>
        <p:spPr>
          <a:xfrm>
            <a:off x="0" y="0"/>
            <a:ext cx="14630400" cy="256032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6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7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8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9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10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1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2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3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4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5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6" name="Page_Title"/>
          <p:cNvSpPr txBox="1"/>
          <p:nvPr/>
        </p:nvSpPr>
        <p:spPr>
          <a:xfrm>
            <a:off x="18288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About DrivePixel</a:t>
            </a:r>
          </a:p>
        </p:txBody>
      </p:sp>
      <p:sp>
        <p:nvSpPr>
          <p:cNvPr id="17" name="Page_Subtitle"/>
          <p:cNvSpPr txBox="1"/>
          <p:nvPr/>
        </p:nvSpPr>
        <p:spPr>
          <a:xfrm>
            <a:off x="1828800" y="1920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We're a team of innovators, developers, and strategists dedicated to transforming businesses through intelligent digital solutions.</a:t>
            </a:r>
          </a:p>
        </p:txBody>
      </p:sp>
      <p:sp>
        <p:nvSpPr>
          <p:cNvPr id="18" name="Section_Title"/>
          <p:cNvSpPr txBox="1"/>
          <p:nvPr/>
        </p:nvSpPr>
        <p:spPr>
          <a:xfrm>
            <a:off x="91440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F3A"/>
                </a:solidFill>
                <a:latin typeface="Arial"/>
              </a:rPr>
              <a:t>Who We Are</a:t>
            </a:r>
          </a:p>
        </p:txBody>
      </p:sp>
      <p:sp>
        <p:nvSpPr>
          <p:cNvPr id="19" name="About_Text"/>
          <p:cNvSpPr txBox="1"/>
          <p:nvPr/>
        </p:nvSpPr>
        <p:spPr>
          <a:xfrm>
            <a:off x="914400" y="347472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DrivePixel is a forward-thinking technology company specializing in custom software development, cloud solutions, and digital transformation. With over 11 years of experience, we've helped hundreds of businesses achieve their digital goals.</a:t>
            </a:r>
          </a:p>
          <a:p>
            <a:pPr algn="l"/>
            <a:endParaRPr sz="1200" b="0">
              <a:solidFill>
                <a:srgbClr val="6B7280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Our team combines technical expertise with strategic thinking to deliver solutions that not only meet today's needs but anticipate tomorrow's challenges.</a:t>
            </a:r>
          </a:p>
        </p:txBody>
      </p:sp>
      <p:sp>
        <p:nvSpPr>
          <p:cNvPr id="20" name="Stat_Icon_1"/>
          <p:cNvSpPr/>
          <p:nvPr/>
        </p:nvSpPr>
        <p:spPr>
          <a:xfrm>
            <a:off x="8229600" y="301752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tat_Title_1"/>
          <p:cNvSpPr txBox="1"/>
          <p:nvPr/>
        </p:nvSpPr>
        <p:spPr>
          <a:xfrm>
            <a:off x="88696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  <a:latin typeface="Arial"/>
              </a:rPr>
              <a:t>4000+ Projects</a:t>
            </a:r>
          </a:p>
        </p:txBody>
      </p:sp>
      <p:sp>
        <p:nvSpPr>
          <p:cNvPr id="22" name="Stat_Desc_1"/>
          <p:cNvSpPr txBox="1"/>
          <p:nvPr/>
        </p:nvSpPr>
        <p:spPr>
          <a:xfrm>
            <a:off x="886968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Successfully delivered across industries</a:t>
            </a:r>
          </a:p>
        </p:txBody>
      </p:sp>
      <p:sp>
        <p:nvSpPr>
          <p:cNvPr id="23" name="Stat_Icon_2"/>
          <p:cNvSpPr/>
          <p:nvPr/>
        </p:nvSpPr>
        <p:spPr>
          <a:xfrm>
            <a:off x="8229600" y="411480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Stat_Title_2"/>
          <p:cNvSpPr txBox="1"/>
          <p:nvPr/>
        </p:nvSpPr>
        <p:spPr>
          <a:xfrm>
            <a:off x="88696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  <a:latin typeface="Arial"/>
              </a:rPr>
              <a:t>23 Countries</a:t>
            </a:r>
          </a:p>
        </p:txBody>
      </p:sp>
      <p:sp>
        <p:nvSpPr>
          <p:cNvPr id="25" name="Stat_Desc_2"/>
          <p:cNvSpPr txBox="1"/>
          <p:nvPr/>
        </p:nvSpPr>
        <p:spPr>
          <a:xfrm>
            <a:off x="886968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Global presence with local expertise</a:t>
            </a:r>
          </a:p>
        </p:txBody>
      </p:sp>
      <p:sp>
        <p:nvSpPr>
          <p:cNvPr id="26" name="Stat_Icon_3"/>
          <p:cNvSpPr/>
          <p:nvPr/>
        </p:nvSpPr>
        <p:spPr>
          <a:xfrm>
            <a:off x="8229600" y="5212079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Stat_Title_3"/>
          <p:cNvSpPr txBox="1"/>
          <p:nvPr/>
        </p:nvSpPr>
        <p:spPr>
          <a:xfrm>
            <a:off x="8869680" y="52120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  <a:latin typeface="Arial"/>
              </a:rPr>
              <a:t>500+ Clients</a:t>
            </a:r>
          </a:p>
        </p:txBody>
      </p:sp>
      <p:sp>
        <p:nvSpPr>
          <p:cNvPr id="28" name="Stat_Desc_3"/>
          <p:cNvSpPr txBox="1"/>
          <p:nvPr/>
        </p:nvSpPr>
        <p:spPr>
          <a:xfrm>
            <a:off x="8869680" y="55321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From startups to enterprises</a:t>
            </a:r>
          </a:p>
        </p:txBody>
      </p:sp>
      <p:sp>
        <p:nvSpPr>
          <p:cNvPr id="29" name="Button_Contact"/>
          <p:cNvSpPr/>
          <p:nvPr/>
        </p:nvSpPr>
        <p:spPr>
          <a:xfrm>
            <a:off x="914400" y="5669280"/>
            <a:ext cx="2011680" cy="4572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Get in Touch</a:t>
            </a:r>
          </a:p>
        </p:txBody>
      </p:sp>
      <p:sp>
        <p:nvSpPr>
          <p:cNvPr id="30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32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33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34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35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36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37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38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39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40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41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42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10/18: About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5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6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7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8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9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1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2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3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4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5" name="Page_Title"/>
          <p:cNvSpPr txBox="1"/>
          <p:nvPr/>
        </p:nvSpPr>
        <p:spPr>
          <a:xfrm>
            <a:off x="18288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F3A"/>
                </a:solidFill>
                <a:latin typeface="Arial"/>
              </a:rPr>
              <a:t>Mission &amp; Vision</a:t>
            </a:r>
          </a:p>
        </p:txBody>
      </p:sp>
      <p:sp>
        <p:nvSpPr>
          <p:cNvPr id="16" name="Mission_Card"/>
          <p:cNvSpPr/>
          <p:nvPr/>
        </p:nvSpPr>
        <p:spPr>
          <a:xfrm>
            <a:off x="1371600" y="2286000"/>
            <a:ext cx="54864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ission_Icon"/>
          <p:cNvSpPr/>
          <p:nvPr/>
        </p:nvSpPr>
        <p:spPr>
          <a:xfrm>
            <a:off x="3200400" y="2560320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ission_Title"/>
          <p:cNvSpPr txBox="1"/>
          <p:nvPr/>
        </p:nvSpPr>
        <p:spPr>
          <a:xfrm>
            <a:off x="18288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F3A"/>
                </a:solidFill>
                <a:latin typeface="Arial"/>
              </a:rPr>
              <a:t>Our Mission</a:t>
            </a:r>
          </a:p>
        </p:txBody>
      </p:sp>
      <p:sp>
        <p:nvSpPr>
          <p:cNvPr id="19" name="Mission_Text"/>
          <p:cNvSpPr txBox="1"/>
          <p:nvPr/>
        </p:nvSpPr>
        <p:spPr>
          <a:xfrm>
            <a:off x="1828800" y="40233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rial"/>
              </a:rPr>
              <a:t>To empower businesses with innovative, scalable, and intelligent digital solutions that drive growth, efficiency, and competitive advantage in an ever-evolving technological landscape.</a:t>
            </a:r>
          </a:p>
        </p:txBody>
      </p:sp>
      <p:sp>
        <p:nvSpPr>
          <p:cNvPr id="20" name="Vision_Card"/>
          <p:cNvSpPr/>
          <p:nvPr/>
        </p:nvSpPr>
        <p:spPr>
          <a:xfrm>
            <a:off x="7772400" y="2286000"/>
            <a:ext cx="54864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Vision_Icon"/>
          <p:cNvSpPr/>
          <p:nvPr/>
        </p:nvSpPr>
        <p:spPr>
          <a:xfrm>
            <a:off x="9601200" y="2560320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Vision_Title"/>
          <p:cNvSpPr txBox="1"/>
          <p:nvPr/>
        </p:nvSpPr>
        <p:spPr>
          <a:xfrm>
            <a:off x="82296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F3A"/>
                </a:solidFill>
                <a:latin typeface="Arial"/>
              </a:rPr>
              <a:t>Our Vision</a:t>
            </a:r>
          </a:p>
        </p:txBody>
      </p:sp>
      <p:sp>
        <p:nvSpPr>
          <p:cNvPr id="23" name="Vision_Text"/>
          <p:cNvSpPr txBox="1"/>
          <p:nvPr/>
        </p:nvSpPr>
        <p:spPr>
          <a:xfrm>
            <a:off x="8229600" y="40233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rial"/>
              </a:rPr>
              <a:t>To be the trusted partner of choice for digital transformation, known for delivering exceptional solutions that combine cutting-edge technology with strategic business insight.</a:t>
            </a:r>
          </a:p>
        </p:txBody>
      </p:sp>
      <p:sp>
        <p:nvSpPr>
          <p:cNvPr id="24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26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27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28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29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30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31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32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33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34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35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36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11/18: About - Mission &amp; Vision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5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6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7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8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9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1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2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3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4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5" name="Page_Title"/>
          <p:cNvSpPr txBox="1"/>
          <p:nvPr/>
        </p:nvSpPr>
        <p:spPr>
          <a:xfrm>
            <a:off x="18288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F3A"/>
                </a:solidFill>
                <a:latin typeface="Arial"/>
              </a:rPr>
              <a:t>Our Core Values</a:t>
            </a:r>
          </a:p>
        </p:txBody>
      </p:sp>
      <p:sp>
        <p:nvSpPr>
          <p:cNvPr id="16" name="Value_Card_1"/>
          <p:cNvSpPr/>
          <p:nvPr/>
        </p:nvSpPr>
        <p:spPr>
          <a:xfrm>
            <a:off x="1371600" y="2560320"/>
            <a:ext cx="2743200" cy="27432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Value_Icon_1"/>
          <p:cNvSpPr/>
          <p:nvPr/>
        </p:nvSpPr>
        <p:spPr>
          <a:xfrm>
            <a:off x="2286000" y="2834639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Value_Title_1"/>
          <p:cNvSpPr txBox="1"/>
          <p:nvPr/>
        </p:nvSpPr>
        <p:spPr>
          <a:xfrm>
            <a:off x="1554480" y="37490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F3A"/>
                </a:solidFill>
                <a:latin typeface="Arial"/>
              </a:rPr>
              <a:t>Excellence</a:t>
            </a:r>
          </a:p>
        </p:txBody>
      </p:sp>
      <p:sp>
        <p:nvSpPr>
          <p:cNvPr id="19" name="Value_Desc_1"/>
          <p:cNvSpPr txBox="1"/>
          <p:nvPr/>
        </p:nvSpPr>
        <p:spPr>
          <a:xfrm>
            <a:off x="1554480" y="4251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We pursue excellence in everything we do</a:t>
            </a:r>
          </a:p>
        </p:txBody>
      </p:sp>
      <p:sp>
        <p:nvSpPr>
          <p:cNvPr id="20" name="Value_Card_2"/>
          <p:cNvSpPr/>
          <p:nvPr/>
        </p:nvSpPr>
        <p:spPr>
          <a:xfrm>
            <a:off x="4480560" y="2560320"/>
            <a:ext cx="2743200" cy="27432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Value_Icon_2"/>
          <p:cNvSpPr/>
          <p:nvPr/>
        </p:nvSpPr>
        <p:spPr>
          <a:xfrm>
            <a:off x="5394960" y="2834639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Value_Title_2"/>
          <p:cNvSpPr txBox="1"/>
          <p:nvPr/>
        </p:nvSpPr>
        <p:spPr>
          <a:xfrm>
            <a:off x="4663440" y="37490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F3A"/>
                </a:solidFill>
                <a:latin typeface="Arial"/>
              </a:rPr>
              <a:t>Integrity</a:t>
            </a:r>
          </a:p>
        </p:txBody>
      </p:sp>
      <p:sp>
        <p:nvSpPr>
          <p:cNvPr id="23" name="Value_Desc_2"/>
          <p:cNvSpPr txBox="1"/>
          <p:nvPr/>
        </p:nvSpPr>
        <p:spPr>
          <a:xfrm>
            <a:off x="4663440" y="4251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We build trust through transparency and honesty</a:t>
            </a:r>
          </a:p>
        </p:txBody>
      </p:sp>
      <p:sp>
        <p:nvSpPr>
          <p:cNvPr id="24" name="Value_Card_3"/>
          <p:cNvSpPr/>
          <p:nvPr/>
        </p:nvSpPr>
        <p:spPr>
          <a:xfrm>
            <a:off x="7589520" y="2560320"/>
            <a:ext cx="2743200" cy="27432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Value_Icon_3"/>
          <p:cNvSpPr/>
          <p:nvPr/>
        </p:nvSpPr>
        <p:spPr>
          <a:xfrm>
            <a:off x="8503920" y="2834639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Value_Title_3"/>
          <p:cNvSpPr txBox="1"/>
          <p:nvPr/>
        </p:nvSpPr>
        <p:spPr>
          <a:xfrm>
            <a:off x="7772400" y="37490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F3A"/>
                </a:solidFill>
                <a:latin typeface="Arial"/>
              </a:rPr>
              <a:t>Innovation</a:t>
            </a:r>
          </a:p>
        </p:txBody>
      </p:sp>
      <p:sp>
        <p:nvSpPr>
          <p:cNvPr id="27" name="Value_Desc_3"/>
          <p:cNvSpPr txBox="1"/>
          <p:nvPr/>
        </p:nvSpPr>
        <p:spPr>
          <a:xfrm>
            <a:off x="7772400" y="4251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We embrace new ideas and technologies</a:t>
            </a:r>
          </a:p>
        </p:txBody>
      </p:sp>
      <p:sp>
        <p:nvSpPr>
          <p:cNvPr id="28" name="Value_Card_4"/>
          <p:cNvSpPr/>
          <p:nvPr/>
        </p:nvSpPr>
        <p:spPr>
          <a:xfrm>
            <a:off x="10698480" y="2560320"/>
            <a:ext cx="2743200" cy="27432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Value_Icon_4"/>
          <p:cNvSpPr/>
          <p:nvPr/>
        </p:nvSpPr>
        <p:spPr>
          <a:xfrm>
            <a:off x="11612880" y="2834639"/>
            <a:ext cx="731520" cy="7315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Value_Title_4"/>
          <p:cNvSpPr txBox="1"/>
          <p:nvPr/>
        </p:nvSpPr>
        <p:spPr>
          <a:xfrm>
            <a:off x="10881359" y="37490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F3A"/>
                </a:solidFill>
                <a:latin typeface="Arial"/>
              </a:rPr>
              <a:t>Impact</a:t>
            </a:r>
          </a:p>
        </p:txBody>
      </p:sp>
      <p:sp>
        <p:nvSpPr>
          <p:cNvPr id="31" name="Value_Desc_4"/>
          <p:cNvSpPr txBox="1"/>
          <p:nvPr/>
        </p:nvSpPr>
        <p:spPr>
          <a:xfrm>
            <a:off x="10881359" y="4251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We create solutions that drive real business value</a:t>
            </a:r>
          </a:p>
        </p:txBody>
      </p:sp>
      <p:sp>
        <p:nvSpPr>
          <p:cNvPr id="32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34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35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36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37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38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39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40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41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42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43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44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12/18: About - Core Values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ro_Background"/>
          <p:cNvSpPr/>
          <p:nvPr/>
        </p:nvSpPr>
        <p:spPr>
          <a:xfrm>
            <a:off x="0" y="0"/>
            <a:ext cx="14630400" cy="256032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6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7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8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9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10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1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2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3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4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5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6" name="Page_Title"/>
          <p:cNvSpPr txBox="1"/>
          <p:nvPr/>
        </p:nvSpPr>
        <p:spPr>
          <a:xfrm>
            <a:off x="914400" y="109728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All IT Services – Explore Our Expertise</a:t>
            </a:r>
          </a:p>
        </p:txBody>
      </p:sp>
      <p:sp>
        <p:nvSpPr>
          <p:cNvPr id="17" name="Page_Subtitle"/>
          <p:cNvSpPr txBox="1"/>
          <p:nvPr/>
        </p:nvSpPr>
        <p:spPr>
          <a:xfrm>
            <a:off x="1828800" y="1783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At Drive Pixel, we provide a wide range of IT services to meet the needs of businesses across different industries. Browse through our services and click on any to learn more.</a:t>
            </a:r>
          </a:p>
        </p:txBody>
      </p:sp>
      <p:sp>
        <p:nvSpPr>
          <p:cNvPr id="18" name="Service_Card_1"/>
          <p:cNvSpPr/>
          <p:nvPr/>
        </p:nvSpPr>
        <p:spPr>
          <a:xfrm>
            <a:off x="1371600" y="3017520"/>
            <a:ext cx="3657600" cy="17373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ervice_Icon_1"/>
          <p:cNvSpPr/>
          <p:nvPr/>
        </p:nvSpPr>
        <p:spPr>
          <a:xfrm>
            <a:off x="1645920" y="324612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Service_Title_1"/>
          <p:cNvSpPr txBox="1"/>
          <p:nvPr/>
        </p:nvSpPr>
        <p:spPr>
          <a:xfrm>
            <a:off x="155448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F3A"/>
                </a:solidFill>
                <a:latin typeface="Arial"/>
              </a:rPr>
              <a:t>Web Development</a:t>
            </a:r>
          </a:p>
        </p:txBody>
      </p:sp>
      <p:sp>
        <p:nvSpPr>
          <p:cNvPr id="21" name="Service_Desc_1"/>
          <p:cNvSpPr txBox="1"/>
          <p:nvPr/>
        </p:nvSpPr>
        <p:spPr>
          <a:xfrm>
            <a:off x="155448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Custom websites, responsive layouts, and e-commerce solutions.</a:t>
            </a:r>
          </a:p>
        </p:txBody>
      </p:sp>
      <p:sp>
        <p:nvSpPr>
          <p:cNvPr id="22" name="Service_Card_2"/>
          <p:cNvSpPr/>
          <p:nvPr/>
        </p:nvSpPr>
        <p:spPr>
          <a:xfrm>
            <a:off x="5486400" y="3017520"/>
            <a:ext cx="3657600" cy="17373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ervice_Icon_2"/>
          <p:cNvSpPr/>
          <p:nvPr/>
        </p:nvSpPr>
        <p:spPr>
          <a:xfrm>
            <a:off x="5760720" y="324612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Service_Title_2"/>
          <p:cNvSpPr txBox="1"/>
          <p:nvPr/>
        </p:nvSpPr>
        <p:spPr>
          <a:xfrm>
            <a:off x="566928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F3A"/>
                </a:solidFill>
                <a:latin typeface="Arial"/>
              </a:rPr>
              <a:t>Mobile App Development</a:t>
            </a:r>
          </a:p>
        </p:txBody>
      </p:sp>
      <p:sp>
        <p:nvSpPr>
          <p:cNvPr id="25" name="Service_Desc_2"/>
          <p:cNvSpPr txBox="1"/>
          <p:nvPr/>
        </p:nvSpPr>
        <p:spPr>
          <a:xfrm>
            <a:off x="566928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iOS &amp; Android apps with seamless UX.</a:t>
            </a:r>
          </a:p>
        </p:txBody>
      </p:sp>
      <p:sp>
        <p:nvSpPr>
          <p:cNvPr id="26" name="Service_Card_3"/>
          <p:cNvSpPr/>
          <p:nvPr/>
        </p:nvSpPr>
        <p:spPr>
          <a:xfrm>
            <a:off x="9601200" y="3017520"/>
            <a:ext cx="3657600" cy="17373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Service_Icon_3"/>
          <p:cNvSpPr/>
          <p:nvPr/>
        </p:nvSpPr>
        <p:spPr>
          <a:xfrm>
            <a:off x="9875520" y="324612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Service_Title_3"/>
          <p:cNvSpPr txBox="1"/>
          <p:nvPr/>
        </p:nvSpPr>
        <p:spPr>
          <a:xfrm>
            <a:off x="978408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F3A"/>
                </a:solidFill>
                <a:latin typeface="Arial"/>
              </a:rPr>
              <a:t>Software Solutions</a:t>
            </a:r>
          </a:p>
        </p:txBody>
      </p:sp>
      <p:sp>
        <p:nvSpPr>
          <p:cNvPr id="29" name="Service_Desc_3"/>
          <p:cNvSpPr txBox="1"/>
          <p:nvPr/>
        </p:nvSpPr>
        <p:spPr>
          <a:xfrm>
            <a:off x="978408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Business management and automation applications.</a:t>
            </a:r>
          </a:p>
        </p:txBody>
      </p:sp>
      <p:sp>
        <p:nvSpPr>
          <p:cNvPr id="30" name="Service_Card_4"/>
          <p:cNvSpPr/>
          <p:nvPr/>
        </p:nvSpPr>
        <p:spPr>
          <a:xfrm>
            <a:off x="1371600" y="5029200"/>
            <a:ext cx="3657600" cy="17373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Service_Icon_4"/>
          <p:cNvSpPr/>
          <p:nvPr/>
        </p:nvSpPr>
        <p:spPr>
          <a:xfrm>
            <a:off x="1645920" y="525780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Service_Title_4"/>
          <p:cNvSpPr txBox="1"/>
          <p:nvPr/>
        </p:nvSpPr>
        <p:spPr>
          <a:xfrm>
            <a:off x="1554480" y="5852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F3A"/>
                </a:solidFill>
                <a:latin typeface="Arial"/>
              </a:rPr>
              <a:t>IT Consulting &amp; Support</a:t>
            </a:r>
          </a:p>
        </p:txBody>
      </p:sp>
      <p:sp>
        <p:nvSpPr>
          <p:cNvPr id="33" name="Service_Desc_4"/>
          <p:cNvSpPr txBox="1"/>
          <p:nvPr/>
        </p:nvSpPr>
        <p:spPr>
          <a:xfrm>
            <a:off x="1554480" y="6217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Strategy, implementation, and ongoing support.</a:t>
            </a:r>
          </a:p>
        </p:txBody>
      </p:sp>
      <p:sp>
        <p:nvSpPr>
          <p:cNvPr id="34" name="Service_Card_5"/>
          <p:cNvSpPr/>
          <p:nvPr/>
        </p:nvSpPr>
        <p:spPr>
          <a:xfrm>
            <a:off x="5486400" y="5029200"/>
            <a:ext cx="3657600" cy="17373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Service_Icon_5"/>
          <p:cNvSpPr/>
          <p:nvPr/>
        </p:nvSpPr>
        <p:spPr>
          <a:xfrm>
            <a:off x="5760720" y="525780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Service_Title_5"/>
          <p:cNvSpPr txBox="1"/>
          <p:nvPr/>
        </p:nvSpPr>
        <p:spPr>
          <a:xfrm>
            <a:off x="5669280" y="5852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F3A"/>
                </a:solidFill>
                <a:latin typeface="Arial"/>
              </a:rPr>
              <a:t>Cybersecurity Services</a:t>
            </a:r>
          </a:p>
        </p:txBody>
      </p:sp>
      <p:sp>
        <p:nvSpPr>
          <p:cNvPr id="37" name="Service_Desc_5"/>
          <p:cNvSpPr txBox="1"/>
          <p:nvPr/>
        </p:nvSpPr>
        <p:spPr>
          <a:xfrm>
            <a:off x="5669280" y="6217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Protect your network and sensitive data.</a:t>
            </a:r>
          </a:p>
        </p:txBody>
      </p:sp>
      <p:sp>
        <p:nvSpPr>
          <p:cNvPr id="38" name="Service_Card_6"/>
          <p:cNvSpPr/>
          <p:nvPr/>
        </p:nvSpPr>
        <p:spPr>
          <a:xfrm>
            <a:off x="9601200" y="5029200"/>
            <a:ext cx="3657600" cy="17373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Service_Icon_6"/>
          <p:cNvSpPr/>
          <p:nvPr/>
        </p:nvSpPr>
        <p:spPr>
          <a:xfrm>
            <a:off x="9875520" y="5257800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Service_Title_6"/>
          <p:cNvSpPr txBox="1"/>
          <p:nvPr/>
        </p:nvSpPr>
        <p:spPr>
          <a:xfrm>
            <a:off x="9784080" y="5852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F3A"/>
                </a:solidFill>
                <a:latin typeface="Arial"/>
              </a:rPr>
              <a:t>Real Estate IT Solutions</a:t>
            </a:r>
          </a:p>
        </p:txBody>
      </p:sp>
      <p:sp>
        <p:nvSpPr>
          <p:cNvPr id="41" name="Service_Desc_6"/>
          <p:cNvSpPr txBox="1"/>
          <p:nvPr/>
        </p:nvSpPr>
        <p:spPr>
          <a:xfrm>
            <a:off x="9784080" y="6217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Specialized solutions for real estate businesses.</a:t>
            </a:r>
          </a:p>
        </p:txBody>
      </p:sp>
      <p:sp>
        <p:nvSpPr>
          <p:cNvPr id="42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44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45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46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47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48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49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50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51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52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53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54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13/18: Services Page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ro_Background"/>
          <p:cNvSpPr/>
          <p:nvPr/>
        </p:nvSpPr>
        <p:spPr>
          <a:xfrm>
            <a:off x="0" y="0"/>
            <a:ext cx="14630400" cy="210312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6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7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8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9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10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1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2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3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4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5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6" name="Page_Title"/>
          <p:cNvSpPr txBox="1"/>
          <p:nvPr/>
        </p:nvSpPr>
        <p:spPr>
          <a:xfrm>
            <a:off x="18288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Get in Touch</a:t>
            </a:r>
          </a:p>
        </p:txBody>
      </p:sp>
      <p:sp>
        <p:nvSpPr>
          <p:cNvPr id="17" name="Page_Subtitle"/>
          <p:cNvSpPr txBox="1"/>
          <p:nvPr/>
        </p:nvSpPr>
        <p:spPr>
          <a:xfrm>
            <a:off x="182880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Have questions? We'd love to hear from you. Send us a message and we'll respond as soon as possible.</a:t>
            </a:r>
          </a:p>
        </p:txBody>
      </p:sp>
      <p:sp>
        <p:nvSpPr>
          <p:cNvPr id="18" name="Contact_Title"/>
          <p:cNvSpPr txBox="1"/>
          <p:nvPr/>
        </p:nvSpPr>
        <p:spPr>
          <a:xfrm>
            <a:off x="9144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3A"/>
                </a:solidFill>
                <a:latin typeface="Arial"/>
              </a:rPr>
              <a:t>Contact Information</a:t>
            </a:r>
          </a:p>
        </p:txBody>
      </p:sp>
      <p:sp>
        <p:nvSpPr>
          <p:cNvPr id="19" name="Address_Card"/>
          <p:cNvSpPr/>
          <p:nvPr/>
        </p:nvSpPr>
        <p:spPr>
          <a:xfrm>
            <a:off x="914400" y="3108960"/>
            <a:ext cx="3657600" cy="100584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ddress_Icon"/>
          <p:cNvSpPr/>
          <p:nvPr/>
        </p:nvSpPr>
        <p:spPr>
          <a:xfrm>
            <a:off x="1188720" y="324612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ddress_Label"/>
          <p:cNvSpPr txBox="1"/>
          <p:nvPr/>
        </p:nvSpPr>
        <p:spPr>
          <a:xfrm>
            <a:off x="173736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  <a:latin typeface="Arial"/>
              </a:rPr>
              <a:t>Address</a:t>
            </a:r>
          </a:p>
        </p:txBody>
      </p:sp>
      <p:sp>
        <p:nvSpPr>
          <p:cNvPr id="22" name="Address_Text"/>
          <p:cNvSpPr txBox="1"/>
          <p:nvPr/>
        </p:nvSpPr>
        <p:spPr>
          <a:xfrm>
            <a:off x="1737360" y="3520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WA</a:t>
            </a:r>
          </a:p>
        </p:txBody>
      </p:sp>
      <p:sp>
        <p:nvSpPr>
          <p:cNvPr id="23" name="Email_Card"/>
          <p:cNvSpPr/>
          <p:nvPr/>
        </p:nvSpPr>
        <p:spPr>
          <a:xfrm>
            <a:off x="914400" y="4297680"/>
            <a:ext cx="3657600" cy="100584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Email_Icon"/>
          <p:cNvSpPr/>
          <p:nvPr/>
        </p:nvSpPr>
        <p:spPr>
          <a:xfrm>
            <a:off x="1188720" y="4434840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Email_Label"/>
          <p:cNvSpPr txBox="1"/>
          <p:nvPr/>
        </p:nvSpPr>
        <p:spPr>
          <a:xfrm>
            <a:off x="1737360" y="4434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  <a:latin typeface="Arial"/>
              </a:rPr>
              <a:t>Email</a:t>
            </a:r>
          </a:p>
        </p:txBody>
      </p:sp>
      <p:sp>
        <p:nvSpPr>
          <p:cNvPr id="26" name="Email_Text"/>
          <p:cNvSpPr txBox="1"/>
          <p:nvPr/>
        </p:nvSpPr>
        <p:spPr>
          <a:xfrm>
            <a:off x="173736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Contact@drivepixel.com</a:t>
            </a:r>
          </a:p>
        </p:txBody>
      </p:sp>
      <p:sp>
        <p:nvSpPr>
          <p:cNvPr id="27" name="Form_Background"/>
          <p:cNvSpPr/>
          <p:nvPr/>
        </p:nvSpPr>
        <p:spPr>
          <a:xfrm>
            <a:off x="5029200" y="2560320"/>
            <a:ext cx="8686800" cy="438912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orm_Title"/>
          <p:cNvSpPr txBox="1"/>
          <p:nvPr/>
        </p:nvSpPr>
        <p:spPr>
          <a:xfrm>
            <a:off x="5486400" y="2743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F3A"/>
                </a:solidFill>
                <a:latin typeface="Arial"/>
              </a:rPr>
              <a:t>Send us a Message</a:t>
            </a:r>
          </a:p>
        </p:txBody>
      </p:sp>
      <p:sp>
        <p:nvSpPr>
          <p:cNvPr id="29" name="Form_Label_Full_Name_*"/>
          <p:cNvSpPr txBox="1"/>
          <p:nvPr/>
        </p:nvSpPr>
        <p:spPr>
          <a:xfrm>
            <a:off x="5669280" y="3291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  <a:latin typeface="Arial"/>
              </a:rPr>
              <a:t>Full Name *</a:t>
            </a:r>
          </a:p>
        </p:txBody>
      </p:sp>
      <p:sp>
        <p:nvSpPr>
          <p:cNvPr id="30" name="Form_Field_Full_Name_*"/>
          <p:cNvSpPr/>
          <p:nvPr/>
        </p:nvSpPr>
        <p:spPr>
          <a:xfrm>
            <a:off x="5669280" y="3547872"/>
            <a:ext cx="7315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orm_Label_Email_*"/>
          <p:cNvSpPr txBox="1"/>
          <p:nvPr/>
        </p:nvSpPr>
        <p:spPr>
          <a:xfrm>
            <a:off x="566928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  <a:latin typeface="Arial"/>
              </a:rPr>
              <a:t>Email *</a:t>
            </a:r>
          </a:p>
        </p:txBody>
      </p:sp>
      <p:sp>
        <p:nvSpPr>
          <p:cNvPr id="32" name="Form_Field_Email_*"/>
          <p:cNvSpPr/>
          <p:nvPr/>
        </p:nvSpPr>
        <p:spPr>
          <a:xfrm>
            <a:off x="5669280" y="4187952"/>
            <a:ext cx="7315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orm_Label_Service_*"/>
          <p:cNvSpPr txBox="1"/>
          <p:nvPr/>
        </p:nvSpPr>
        <p:spPr>
          <a:xfrm>
            <a:off x="5669280" y="4572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  <a:latin typeface="Arial"/>
              </a:rPr>
              <a:t>Service *</a:t>
            </a:r>
          </a:p>
        </p:txBody>
      </p:sp>
      <p:sp>
        <p:nvSpPr>
          <p:cNvPr id="34" name="Form_Field_Service_*"/>
          <p:cNvSpPr/>
          <p:nvPr/>
        </p:nvSpPr>
        <p:spPr>
          <a:xfrm>
            <a:off x="5669280" y="4828032"/>
            <a:ext cx="7315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orm_Label_Message_*"/>
          <p:cNvSpPr txBox="1"/>
          <p:nvPr/>
        </p:nvSpPr>
        <p:spPr>
          <a:xfrm>
            <a:off x="5669280" y="5212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1F3A"/>
                </a:solidFill>
                <a:latin typeface="Arial"/>
              </a:rPr>
              <a:t>Message *</a:t>
            </a:r>
          </a:p>
        </p:txBody>
      </p:sp>
      <p:sp>
        <p:nvSpPr>
          <p:cNvPr id="36" name="Form_Field_Message_*"/>
          <p:cNvSpPr/>
          <p:nvPr/>
        </p:nvSpPr>
        <p:spPr>
          <a:xfrm>
            <a:off x="5669280" y="5468112"/>
            <a:ext cx="7315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Button_Submit"/>
          <p:cNvSpPr/>
          <p:nvPr/>
        </p:nvSpPr>
        <p:spPr>
          <a:xfrm>
            <a:off x="10058400" y="6217920"/>
            <a:ext cx="2286000" cy="4572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Send Message</a:t>
            </a:r>
          </a:p>
        </p:txBody>
      </p:sp>
      <p:sp>
        <p:nvSpPr>
          <p:cNvPr id="38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40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41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42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43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44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45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46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47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48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49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50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14/18: Contact Page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ro_Background"/>
          <p:cNvSpPr/>
          <p:nvPr/>
        </p:nvSpPr>
        <p:spPr>
          <a:xfrm>
            <a:off x="0" y="0"/>
            <a:ext cx="14630400" cy="228600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6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7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8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9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10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1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2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3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4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5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6" name="Page_Title"/>
          <p:cNvSpPr txBox="1"/>
          <p:nvPr/>
        </p:nvSpPr>
        <p:spPr>
          <a:xfrm>
            <a:off x="18288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Our Portfolio</a:t>
            </a:r>
          </a:p>
        </p:txBody>
      </p:sp>
      <p:sp>
        <p:nvSpPr>
          <p:cNvPr id="17" name="Page_Subtitle"/>
          <p:cNvSpPr txBox="1"/>
          <p:nvPr/>
        </p:nvSpPr>
        <p:spPr>
          <a:xfrm>
            <a:off x="182880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Explore some of the digital solutions we've built for clients across different industries.</a:t>
            </a:r>
          </a:p>
        </p:txBody>
      </p:sp>
      <p:sp>
        <p:nvSpPr>
          <p:cNvPr id="18" name="Filter_All"/>
          <p:cNvSpPr/>
          <p:nvPr/>
        </p:nvSpPr>
        <p:spPr>
          <a:xfrm>
            <a:off x="3657600" y="2651760"/>
            <a:ext cx="1371600" cy="3657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ilter_Text_All"/>
          <p:cNvSpPr txBox="1"/>
          <p:nvPr/>
        </p:nvSpPr>
        <p:spPr>
          <a:xfrm>
            <a:off x="365760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All</a:t>
            </a:r>
          </a:p>
        </p:txBody>
      </p:sp>
      <p:sp>
        <p:nvSpPr>
          <p:cNvPr id="20" name="Filter_SaaS"/>
          <p:cNvSpPr/>
          <p:nvPr/>
        </p:nvSpPr>
        <p:spPr>
          <a:xfrm>
            <a:off x="5303520" y="2651760"/>
            <a:ext cx="1371600" cy="3657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ilter_Text_SaaS"/>
          <p:cNvSpPr txBox="1"/>
          <p:nvPr/>
        </p:nvSpPr>
        <p:spPr>
          <a:xfrm>
            <a:off x="530352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F3A"/>
                </a:solidFill>
                <a:latin typeface="Arial"/>
              </a:rPr>
              <a:t>SaaS</a:t>
            </a:r>
          </a:p>
        </p:txBody>
      </p:sp>
      <p:sp>
        <p:nvSpPr>
          <p:cNvPr id="22" name="Filter_Enterprise"/>
          <p:cNvSpPr/>
          <p:nvPr/>
        </p:nvSpPr>
        <p:spPr>
          <a:xfrm>
            <a:off x="6949440" y="2651760"/>
            <a:ext cx="1371600" cy="3657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ilter_Text_Enterprise"/>
          <p:cNvSpPr txBox="1"/>
          <p:nvPr/>
        </p:nvSpPr>
        <p:spPr>
          <a:xfrm>
            <a:off x="694944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F3A"/>
                </a:solidFill>
                <a:latin typeface="Arial"/>
              </a:rPr>
              <a:t>Enterprise</a:t>
            </a:r>
          </a:p>
        </p:txBody>
      </p:sp>
      <p:sp>
        <p:nvSpPr>
          <p:cNvPr id="24" name="Filter_Retail"/>
          <p:cNvSpPr/>
          <p:nvPr/>
        </p:nvSpPr>
        <p:spPr>
          <a:xfrm>
            <a:off x="8595360" y="2651760"/>
            <a:ext cx="1371600" cy="3657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ilter_Text_Retail"/>
          <p:cNvSpPr txBox="1"/>
          <p:nvPr/>
        </p:nvSpPr>
        <p:spPr>
          <a:xfrm>
            <a:off x="859536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F3A"/>
                </a:solidFill>
                <a:latin typeface="Arial"/>
              </a:rPr>
              <a:t>Retail</a:t>
            </a:r>
          </a:p>
        </p:txBody>
      </p:sp>
      <p:sp>
        <p:nvSpPr>
          <p:cNvPr id="26" name="Filter_Healthcare"/>
          <p:cNvSpPr/>
          <p:nvPr/>
        </p:nvSpPr>
        <p:spPr>
          <a:xfrm>
            <a:off x="10241280" y="2651760"/>
            <a:ext cx="1371600" cy="3657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ilter_Text_Healthcare"/>
          <p:cNvSpPr txBox="1"/>
          <p:nvPr/>
        </p:nvSpPr>
        <p:spPr>
          <a:xfrm>
            <a:off x="1024128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F3A"/>
                </a:solidFill>
                <a:latin typeface="Arial"/>
              </a:rPr>
              <a:t>Healthcare</a:t>
            </a:r>
          </a:p>
        </p:txBody>
      </p:sp>
      <p:sp>
        <p:nvSpPr>
          <p:cNvPr id="28" name="Portfolio_Card_1"/>
          <p:cNvSpPr/>
          <p:nvPr/>
        </p:nvSpPr>
        <p:spPr>
          <a:xfrm>
            <a:off x="1371600" y="3291840"/>
            <a:ext cx="5486400" cy="27432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Portfolio_Title_1"/>
          <p:cNvSpPr txBox="1"/>
          <p:nvPr/>
        </p:nvSpPr>
        <p:spPr>
          <a:xfrm>
            <a:off x="18288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3A"/>
                </a:solidFill>
                <a:latin typeface="Arial"/>
              </a:rPr>
              <a:t>Smart Booking Platform</a:t>
            </a:r>
          </a:p>
        </p:txBody>
      </p:sp>
      <p:sp>
        <p:nvSpPr>
          <p:cNvPr id="30" name="Portfolio_Cat_1"/>
          <p:cNvSpPr txBox="1"/>
          <p:nvPr/>
        </p:nvSpPr>
        <p:spPr>
          <a:xfrm>
            <a:off x="1828800" y="39776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SaaS</a:t>
            </a:r>
          </a:p>
        </p:txBody>
      </p:sp>
      <p:sp>
        <p:nvSpPr>
          <p:cNvPr id="31" name="Portfolio_Desc_1"/>
          <p:cNvSpPr txBox="1"/>
          <p:nvPr/>
        </p:nvSpPr>
        <p:spPr>
          <a:xfrm>
            <a:off x="1828800" y="4343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Modern booking engine with real-time availability, secure payments, and an optimized dashboard.</a:t>
            </a:r>
          </a:p>
        </p:txBody>
      </p:sp>
      <p:sp>
        <p:nvSpPr>
          <p:cNvPr id="32" name="Portfolio_Card_2"/>
          <p:cNvSpPr/>
          <p:nvPr/>
        </p:nvSpPr>
        <p:spPr>
          <a:xfrm>
            <a:off x="7772400" y="3291840"/>
            <a:ext cx="5486400" cy="27432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ortfolio_Title_2"/>
          <p:cNvSpPr txBox="1"/>
          <p:nvPr/>
        </p:nvSpPr>
        <p:spPr>
          <a:xfrm>
            <a:off x="82296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F3A"/>
                </a:solidFill>
                <a:latin typeface="Arial"/>
              </a:rPr>
              <a:t>AI Workflow Automation</a:t>
            </a:r>
          </a:p>
        </p:txBody>
      </p:sp>
      <p:sp>
        <p:nvSpPr>
          <p:cNvPr id="34" name="Portfolio_Cat_2"/>
          <p:cNvSpPr txBox="1"/>
          <p:nvPr/>
        </p:nvSpPr>
        <p:spPr>
          <a:xfrm>
            <a:off x="8229600" y="39776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Enterprise</a:t>
            </a:r>
          </a:p>
        </p:txBody>
      </p:sp>
      <p:sp>
        <p:nvSpPr>
          <p:cNvPr id="35" name="Portfolio_Desc_2"/>
          <p:cNvSpPr txBox="1"/>
          <p:nvPr/>
        </p:nvSpPr>
        <p:spPr>
          <a:xfrm>
            <a:off x="8229600" y="4343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Automated data processing system powered by machine learning, reducing manual tasks by 60%.</a:t>
            </a:r>
          </a:p>
        </p:txBody>
      </p:sp>
      <p:sp>
        <p:nvSpPr>
          <p:cNvPr id="36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38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39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40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41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42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43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44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45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46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47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48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15/18: Portfolio Page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ro_Background"/>
          <p:cNvSpPr/>
          <p:nvPr/>
        </p:nvSpPr>
        <p:spPr>
          <a:xfrm>
            <a:off x="0" y="0"/>
            <a:ext cx="14630400" cy="228600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6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7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8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9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10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1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2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3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4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5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6" name="Page_Title"/>
          <p:cNvSpPr txBox="1"/>
          <p:nvPr/>
        </p:nvSpPr>
        <p:spPr>
          <a:xfrm>
            <a:off x="18288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Our Blog</a:t>
            </a:r>
          </a:p>
        </p:txBody>
      </p:sp>
      <p:sp>
        <p:nvSpPr>
          <p:cNvPr id="17" name="Page_Subtitle"/>
          <p:cNvSpPr txBox="1"/>
          <p:nvPr/>
        </p:nvSpPr>
        <p:spPr>
          <a:xfrm>
            <a:off x="182880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Insights, tutorials, and case studies from our team of experts.</a:t>
            </a:r>
          </a:p>
        </p:txBody>
      </p:sp>
      <p:sp>
        <p:nvSpPr>
          <p:cNvPr id="18" name="Filter_All"/>
          <p:cNvSpPr/>
          <p:nvPr/>
        </p:nvSpPr>
        <p:spPr>
          <a:xfrm>
            <a:off x="2286000" y="2651760"/>
            <a:ext cx="1828800" cy="3657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ilter_Text_All"/>
          <p:cNvSpPr txBox="1"/>
          <p:nvPr/>
        </p:nvSpPr>
        <p:spPr>
          <a:xfrm>
            <a:off x="228600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All</a:t>
            </a:r>
          </a:p>
        </p:txBody>
      </p:sp>
      <p:sp>
        <p:nvSpPr>
          <p:cNvPr id="20" name="Filter_Featured_Posts"/>
          <p:cNvSpPr/>
          <p:nvPr/>
        </p:nvSpPr>
        <p:spPr>
          <a:xfrm>
            <a:off x="4389120" y="2651760"/>
            <a:ext cx="1828800" cy="3657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ilter_Text_Featured_Posts"/>
          <p:cNvSpPr txBox="1"/>
          <p:nvPr/>
        </p:nvSpPr>
        <p:spPr>
          <a:xfrm>
            <a:off x="438912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F3A"/>
                </a:solidFill>
                <a:latin typeface="Arial"/>
              </a:rPr>
              <a:t>Featured Posts</a:t>
            </a:r>
          </a:p>
        </p:txBody>
      </p:sp>
      <p:sp>
        <p:nvSpPr>
          <p:cNvPr id="22" name="Filter_Tutorials"/>
          <p:cNvSpPr/>
          <p:nvPr/>
        </p:nvSpPr>
        <p:spPr>
          <a:xfrm>
            <a:off x="6492240" y="2651760"/>
            <a:ext cx="1828800" cy="3657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ilter_Text_Tutorials"/>
          <p:cNvSpPr txBox="1"/>
          <p:nvPr/>
        </p:nvSpPr>
        <p:spPr>
          <a:xfrm>
            <a:off x="649224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F3A"/>
                </a:solidFill>
                <a:latin typeface="Arial"/>
              </a:rPr>
              <a:t>Tutorials</a:t>
            </a:r>
          </a:p>
        </p:txBody>
      </p:sp>
      <p:sp>
        <p:nvSpPr>
          <p:cNvPr id="24" name="Filter_Case_Studies"/>
          <p:cNvSpPr/>
          <p:nvPr/>
        </p:nvSpPr>
        <p:spPr>
          <a:xfrm>
            <a:off x="8595359" y="2651760"/>
            <a:ext cx="1828800" cy="3657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ilter_Text_Case_Studies"/>
          <p:cNvSpPr txBox="1"/>
          <p:nvPr/>
        </p:nvSpPr>
        <p:spPr>
          <a:xfrm>
            <a:off x="8595359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F3A"/>
                </a:solidFill>
                <a:latin typeface="Arial"/>
              </a:rPr>
              <a:t>Case Studies</a:t>
            </a:r>
          </a:p>
        </p:txBody>
      </p:sp>
      <p:sp>
        <p:nvSpPr>
          <p:cNvPr id="26" name="Filter_Industry_Insights"/>
          <p:cNvSpPr/>
          <p:nvPr/>
        </p:nvSpPr>
        <p:spPr>
          <a:xfrm>
            <a:off x="10698480" y="2651760"/>
            <a:ext cx="1828800" cy="36576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ilter_Text_Industry_Insights"/>
          <p:cNvSpPr txBox="1"/>
          <p:nvPr/>
        </p:nvSpPr>
        <p:spPr>
          <a:xfrm>
            <a:off x="1069848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F3A"/>
                </a:solidFill>
                <a:latin typeface="Arial"/>
              </a:rPr>
              <a:t>Industry Insights</a:t>
            </a:r>
          </a:p>
        </p:txBody>
      </p:sp>
      <p:sp>
        <p:nvSpPr>
          <p:cNvPr id="28" name="Blog_Card_1"/>
          <p:cNvSpPr/>
          <p:nvPr/>
        </p:nvSpPr>
        <p:spPr>
          <a:xfrm>
            <a:off x="1371600" y="3291840"/>
            <a:ext cx="3657600" cy="29260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Blog_Image_1"/>
          <p:cNvSpPr/>
          <p:nvPr/>
        </p:nvSpPr>
        <p:spPr>
          <a:xfrm>
            <a:off x="1371600" y="329184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log_Category_1"/>
          <p:cNvSpPr txBox="1"/>
          <p:nvPr/>
        </p:nvSpPr>
        <p:spPr>
          <a:xfrm>
            <a:off x="164592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CATEGORY</a:t>
            </a:r>
          </a:p>
        </p:txBody>
      </p:sp>
      <p:sp>
        <p:nvSpPr>
          <p:cNvPr id="31" name="Blog_Title_1"/>
          <p:cNvSpPr txBox="1"/>
          <p:nvPr/>
        </p:nvSpPr>
        <p:spPr>
          <a:xfrm>
            <a:off x="1645920" y="4892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  <a:latin typeface="Arial"/>
              </a:rPr>
              <a:t>Blog Post Title Here</a:t>
            </a:r>
          </a:p>
        </p:txBody>
      </p:sp>
      <p:sp>
        <p:nvSpPr>
          <p:cNvPr id="32" name="Blog_Excerpt_1"/>
          <p:cNvSpPr txBox="1"/>
          <p:nvPr/>
        </p:nvSpPr>
        <p:spPr>
          <a:xfrm>
            <a:off x="1645920" y="5394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Brief excerpt of the blog post content goes here...</a:t>
            </a:r>
          </a:p>
        </p:txBody>
      </p:sp>
      <p:sp>
        <p:nvSpPr>
          <p:cNvPr id="33" name="Blog_Card_2"/>
          <p:cNvSpPr/>
          <p:nvPr/>
        </p:nvSpPr>
        <p:spPr>
          <a:xfrm>
            <a:off x="5486400" y="3291840"/>
            <a:ext cx="3657600" cy="29260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log_Image_2"/>
          <p:cNvSpPr/>
          <p:nvPr/>
        </p:nvSpPr>
        <p:spPr>
          <a:xfrm>
            <a:off x="5486400" y="329184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Blog_Category_2"/>
          <p:cNvSpPr txBox="1"/>
          <p:nvPr/>
        </p:nvSpPr>
        <p:spPr>
          <a:xfrm>
            <a:off x="576072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CATEGORY</a:t>
            </a:r>
          </a:p>
        </p:txBody>
      </p:sp>
      <p:sp>
        <p:nvSpPr>
          <p:cNvPr id="36" name="Blog_Title_2"/>
          <p:cNvSpPr txBox="1"/>
          <p:nvPr/>
        </p:nvSpPr>
        <p:spPr>
          <a:xfrm>
            <a:off x="5760720" y="4892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  <a:latin typeface="Arial"/>
              </a:rPr>
              <a:t>Blog Post Title Here</a:t>
            </a:r>
          </a:p>
        </p:txBody>
      </p:sp>
      <p:sp>
        <p:nvSpPr>
          <p:cNvPr id="37" name="Blog_Excerpt_2"/>
          <p:cNvSpPr txBox="1"/>
          <p:nvPr/>
        </p:nvSpPr>
        <p:spPr>
          <a:xfrm>
            <a:off x="5760720" y="5394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Brief excerpt of the blog post content goes here...</a:t>
            </a:r>
          </a:p>
        </p:txBody>
      </p:sp>
      <p:sp>
        <p:nvSpPr>
          <p:cNvPr id="38" name="Blog_Card_3"/>
          <p:cNvSpPr/>
          <p:nvPr/>
        </p:nvSpPr>
        <p:spPr>
          <a:xfrm>
            <a:off x="9601200" y="3291840"/>
            <a:ext cx="3657600" cy="29260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Blog_Image_3"/>
          <p:cNvSpPr/>
          <p:nvPr/>
        </p:nvSpPr>
        <p:spPr>
          <a:xfrm>
            <a:off x="9601200" y="329184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log_Category_3"/>
          <p:cNvSpPr txBox="1"/>
          <p:nvPr/>
        </p:nvSpPr>
        <p:spPr>
          <a:xfrm>
            <a:off x="987552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CATEGORY</a:t>
            </a:r>
          </a:p>
        </p:txBody>
      </p:sp>
      <p:sp>
        <p:nvSpPr>
          <p:cNvPr id="41" name="Blog_Title_3"/>
          <p:cNvSpPr txBox="1"/>
          <p:nvPr/>
        </p:nvSpPr>
        <p:spPr>
          <a:xfrm>
            <a:off x="9875520" y="4892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  <a:latin typeface="Arial"/>
              </a:rPr>
              <a:t>Blog Post Title Here</a:t>
            </a:r>
          </a:p>
        </p:txBody>
      </p:sp>
      <p:sp>
        <p:nvSpPr>
          <p:cNvPr id="42" name="Blog_Excerpt_3"/>
          <p:cNvSpPr txBox="1"/>
          <p:nvPr/>
        </p:nvSpPr>
        <p:spPr>
          <a:xfrm>
            <a:off x="9875520" y="5394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Brief excerpt of the blog post content goes here...</a:t>
            </a:r>
          </a:p>
        </p:txBody>
      </p:sp>
      <p:sp>
        <p:nvSpPr>
          <p:cNvPr id="43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45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46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47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48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49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50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51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52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53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54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55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16/18: Blog Page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5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6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7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8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9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0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1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2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3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4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5" name="Shop_Badge"/>
          <p:cNvSpPr txBox="1"/>
          <p:nvPr/>
        </p:nvSpPr>
        <p:spPr>
          <a:xfrm>
            <a:off x="457200" y="10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Premium Digital Assets</a:t>
            </a:r>
          </a:p>
        </p:txBody>
      </p:sp>
      <p:sp>
        <p:nvSpPr>
          <p:cNvPr id="16" name="Shop_Title"/>
          <p:cNvSpPr txBox="1"/>
          <p:nvPr/>
        </p:nvSpPr>
        <p:spPr>
          <a:xfrm>
            <a:off x="457200" y="14630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F3A"/>
                </a:solidFill>
                <a:latin typeface="Arial"/>
              </a:rPr>
              <a:t>Shop the tools that power modern brands</a:t>
            </a:r>
          </a:p>
        </p:txBody>
      </p:sp>
      <p:sp>
        <p:nvSpPr>
          <p:cNvPr id="17" name="Shop_Subtitle"/>
          <p:cNvSpPr txBox="1"/>
          <p:nvPr/>
        </p:nvSpPr>
        <p:spPr>
          <a:xfrm>
            <a:off x="457200" y="2377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Curated templates, services, and integrations built to launch faster. Seamless checkout and instant delivery backed by our team.</a:t>
            </a:r>
          </a:p>
        </p:txBody>
      </p:sp>
      <p:sp>
        <p:nvSpPr>
          <p:cNvPr id="18" name="Button_Browse"/>
          <p:cNvSpPr/>
          <p:nvPr/>
        </p:nvSpPr>
        <p:spPr>
          <a:xfrm>
            <a:off x="457200" y="3108960"/>
            <a:ext cx="2286000" cy="45720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Browse collection</a:t>
            </a:r>
          </a:p>
        </p:txBody>
      </p:sp>
      <p:sp>
        <p:nvSpPr>
          <p:cNvPr id="19" name="Button_Cart"/>
          <p:cNvSpPr/>
          <p:nvPr/>
        </p:nvSpPr>
        <p:spPr>
          <a:xfrm>
            <a:off x="3017520" y="3108960"/>
            <a:ext cx="1828800" cy="457200"/>
          </a:xfrm>
          <a:prstGeom prst="round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View cart (0)</a:t>
            </a:r>
          </a:p>
        </p:txBody>
      </p:sp>
      <p:sp>
        <p:nvSpPr>
          <p:cNvPr id="20" name="Product_Card_1"/>
          <p:cNvSpPr/>
          <p:nvPr/>
        </p:nvSpPr>
        <p:spPr>
          <a:xfrm>
            <a:off x="914400" y="4114800"/>
            <a:ext cx="39319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roduct_Image_1"/>
          <p:cNvSpPr/>
          <p:nvPr/>
        </p:nvSpPr>
        <p:spPr>
          <a:xfrm>
            <a:off x="914400" y="4114800"/>
            <a:ext cx="3931920" cy="118872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roduct_Category_1"/>
          <p:cNvSpPr txBox="1"/>
          <p:nvPr/>
        </p:nvSpPr>
        <p:spPr>
          <a:xfrm>
            <a:off x="109728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F3A"/>
                </a:solidFill>
                <a:latin typeface="Arial"/>
              </a:rPr>
              <a:t>CATEGORY</a:t>
            </a:r>
          </a:p>
        </p:txBody>
      </p:sp>
      <p:sp>
        <p:nvSpPr>
          <p:cNvPr id="23" name="Product_Title_1"/>
          <p:cNvSpPr txBox="1"/>
          <p:nvPr/>
        </p:nvSpPr>
        <p:spPr>
          <a:xfrm>
            <a:off x="1097280" y="5486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  <a:latin typeface="Arial"/>
              </a:rPr>
              <a:t>Product Name</a:t>
            </a:r>
          </a:p>
        </p:txBody>
      </p:sp>
      <p:sp>
        <p:nvSpPr>
          <p:cNvPr id="24" name="Product_Price_1"/>
          <p:cNvSpPr txBox="1"/>
          <p:nvPr/>
        </p:nvSpPr>
        <p:spPr>
          <a:xfrm>
            <a:off x="1097280" y="5852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$99.00</a:t>
            </a:r>
          </a:p>
        </p:txBody>
      </p:sp>
      <p:sp>
        <p:nvSpPr>
          <p:cNvPr id="25" name="Button_AddCart_1"/>
          <p:cNvSpPr/>
          <p:nvPr/>
        </p:nvSpPr>
        <p:spPr>
          <a:xfrm>
            <a:off x="1097280" y="6263640"/>
            <a:ext cx="356616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Add to Cart</a:t>
            </a:r>
          </a:p>
        </p:txBody>
      </p:sp>
      <p:sp>
        <p:nvSpPr>
          <p:cNvPr id="26" name="Product_Card_2"/>
          <p:cNvSpPr/>
          <p:nvPr/>
        </p:nvSpPr>
        <p:spPr>
          <a:xfrm>
            <a:off x="5303520" y="4114800"/>
            <a:ext cx="39319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Product_Image_2"/>
          <p:cNvSpPr/>
          <p:nvPr/>
        </p:nvSpPr>
        <p:spPr>
          <a:xfrm>
            <a:off x="5303520" y="4114800"/>
            <a:ext cx="3931920" cy="118872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roduct_Category_2"/>
          <p:cNvSpPr txBox="1"/>
          <p:nvPr/>
        </p:nvSpPr>
        <p:spPr>
          <a:xfrm>
            <a:off x="548640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F3A"/>
                </a:solidFill>
                <a:latin typeface="Arial"/>
              </a:rPr>
              <a:t>CATEGORY</a:t>
            </a:r>
          </a:p>
        </p:txBody>
      </p:sp>
      <p:sp>
        <p:nvSpPr>
          <p:cNvPr id="29" name="Product_Title_2"/>
          <p:cNvSpPr txBox="1"/>
          <p:nvPr/>
        </p:nvSpPr>
        <p:spPr>
          <a:xfrm>
            <a:off x="5486400" y="5486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  <a:latin typeface="Arial"/>
              </a:rPr>
              <a:t>Product Name</a:t>
            </a:r>
          </a:p>
        </p:txBody>
      </p:sp>
      <p:sp>
        <p:nvSpPr>
          <p:cNvPr id="30" name="Product_Price_2"/>
          <p:cNvSpPr txBox="1"/>
          <p:nvPr/>
        </p:nvSpPr>
        <p:spPr>
          <a:xfrm>
            <a:off x="5486400" y="5852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$99.00</a:t>
            </a:r>
          </a:p>
        </p:txBody>
      </p:sp>
      <p:sp>
        <p:nvSpPr>
          <p:cNvPr id="31" name="Button_AddCart_2"/>
          <p:cNvSpPr/>
          <p:nvPr/>
        </p:nvSpPr>
        <p:spPr>
          <a:xfrm>
            <a:off x="5486400" y="6263640"/>
            <a:ext cx="356616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Add to Cart</a:t>
            </a:r>
          </a:p>
        </p:txBody>
      </p:sp>
      <p:sp>
        <p:nvSpPr>
          <p:cNvPr id="32" name="Product_Card_3"/>
          <p:cNvSpPr/>
          <p:nvPr/>
        </p:nvSpPr>
        <p:spPr>
          <a:xfrm>
            <a:off x="9692640" y="4114800"/>
            <a:ext cx="39319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roduct_Image_3"/>
          <p:cNvSpPr/>
          <p:nvPr/>
        </p:nvSpPr>
        <p:spPr>
          <a:xfrm>
            <a:off x="9692640" y="4114800"/>
            <a:ext cx="3931920" cy="118872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Product_Category_3"/>
          <p:cNvSpPr txBox="1"/>
          <p:nvPr/>
        </p:nvSpPr>
        <p:spPr>
          <a:xfrm>
            <a:off x="9875519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F3A"/>
                </a:solidFill>
                <a:latin typeface="Arial"/>
              </a:rPr>
              <a:t>CATEGORY</a:t>
            </a:r>
          </a:p>
        </p:txBody>
      </p:sp>
      <p:sp>
        <p:nvSpPr>
          <p:cNvPr id="35" name="Product_Title_3"/>
          <p:cNvSpPr txBox="1"/>
          <p:nvPr/>
        </p:nvSpPr>
        <p:spPr>
          <a:xfrm>
            <a:off x="9875519" y="5486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3A"/>
                </a:solidFill>
                <a:latin typeface="Arial"/>
              </a:rPr>
              <a:t>Product Name</a:t>
            </a:r>
          </a:p>
        </p:txBody>
      </p:sp>
      <p:sp>
        <p:nvSpPr>
          <p:cNvPr id="36" name="Product_Price_3"/>
          <p:cNvSpPr txBox="1"/>
          <p:nvPr/>
        </p:nvSpPr>
        <p:spPr>
          <a:xfrm>
            <a:off x="9875519" y="5852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$99.00</a:t>
            </a:r>
          </a:p>
        </p:txBody>
      </p:sp>
      <p:sp>
        <p:nvSpPr>
          <p:cNvPr id="37" name="Button_AddCart_3"/>
          <p:cNvSpPr/>
          <p:nvPr/>
        </p:nvSpPr>
        <p:spPr>
          <a:xfrm>
            <a:off x="9875519" y="6263640"/>
            <a:ext cx="356616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Add to Cart</a:t>
            </a:r>
          </a:p>
        </p:txBody>
      </p:sp>
      <p:sp>
        <p:nvSpPr>
          <p:cNvPr id="38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40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41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42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43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44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45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46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47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48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49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50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17/18: Shop Page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ro_Background"/>
          <p:cNvSpPr/>
          <p:nvPr/>
        </p:nvSpPr>
        <p:spPr>
          <a:xfrm>
            <a:off x="0" y="0"/>
            <a:ext cx="14630400" cy="228600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Navbar_Background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rgbClr val="050B1D"/>
          </a:solidFill>
          <a:ln>
            <a:solidFill>
              <a:srgbClr val="050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Navbar_Email"/>
          <p:cNvSpPr txBox="1"/>
          <p:nvPr/>
        </p:nvSpPr>
        <p:spPr>
          <a:xfrm>
            <a:off x="457200" y="91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Contact@drivepixel.com</a:t>
            </a:r>
          </a:p>
        </p:txBody>
      </p:sp>
      <p:sp>
        <p:nvSpPr>
          <p:cNvPr id="6" name="Navbar_Tagline"/>
          <p:cNvSpPr txBox="1"/>
          <p:nvPr/>
        </p:nvSpPr>
        <p:spPr>
          <a:xfrm>
            <a:off x="10972800" y="91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Enterprise technology for operations &amp; growth</a:t>
            </a:r>
          </a:p>
        </p:txBody>
      </p:sp>
      <p:sp>
        <p:nvSpPr>
          <p:cNvPr id="7" name="Navbar_Logo"/>
          <p:cNvSpPr txBox="1"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8" name="Nav_Real_Estate"/>
          <p:cNvSpPr txBox="1"/>
          <p:nvPr/>
        </p:nvSpPr>
        <p:spPr>
          <a:xfrm>
            <a:off x="45720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Real Estate</a:t>
            </a:r>
          </a:p>
        </p:txBody>
      </p:sp>
      <p:sp>
        <p:nvSpPr>
          <p:cNvPr id="9" name="Nav_Freight-Logistics"/>
          <p:cNvSpPr txBox="1"/>
          <p:nvPr/>
        </p:nvSpPr>
        <p:spPr>
          <a:xfrm>
            <a:off x="585216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Freight-Logistics</a:t>
            </a:r>
          </a:p>
        </p:txBody>
      </p:sp>
      <p:sp>
        <p:nvSpPr>
          <p:cNvPr id="10" name="Nav_Services"/>
          <p:cNvSpPr txBox="1"/>
          <p:nvPr/>
        </p:nvSpPr>
        <p:spPr>
          <a:xfrm>
            <a:off x="713232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11" name="Nav_About_Us"/>
          <p:cNvSpPr txBox="1"/>
          <p:nvPr/>
        </p:nvSpPr>
        <p:spPr>
          <a:xfrm>
            <a:off x="841248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About Us</a:t>
            </a:r>
          </a:p>
        </p:txBody>
      </p:sp>
      <p:sp>
        <p:nvSpPr>
          <p:cNvPr id="12" name="Nav_Blog"/>
          <p:cNvSpPr txBox="1"/>
          <p:nvPr/>
        </p:nvSpPr>
        <p:spPr>
          <a:xfrm>
            <a:off x="969264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Blog</a:t>
            </a:r>
          </a:p>
        </p:txBody>
      </p:sp>
      <p:sp>
        <p:nvSpPr>
          <p:cNvPr id="13" name="Nav_Shop"/>
          <p:cNvSpPr txBox="1"/>
          <p:nvPr/>
        </p:nvSpPr>
        <p:spPr>
          <a:xfrm>
            <a:off x="10972800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Shop</a:t>
            </a:r>
          </a:p>
        </p:txBody>
      </p:sp>
      <p:sp>
        <p:nvSpPr>
          <p:cNvPr id="14" name="Nav_Contact"/>
          <p:cNvSpPr txBox="1"/>
          <p:nvPr/>
        </p:nvSpPr>
        <p:spPr>
          <a:xfrm>
            <a:off x="12252959" y="411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15" name="Navbar_ContactBtn"/>
          <p:cNvSpPr/>
          <p:nvPr/>
        </p:nvSpPr>
        <p:spPr>
          <a:xfrm>
            <a:off x="12801600" y="365760"/>
            <a:ext cx="13716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Contact Us</a:t>
            </a:r>
          </a:p>
        </p:txBody>
      </p:sp>
      <p:sp>
        <p:nvSpPr>
          <p:cNvPr id="16" name="Page_Title"/>
          <p:cNvSpPr txBox="1"/>
          <p:nvPr/>
        </p:nvSpPr>
        <p:spPr>
          <a:xfrm>
            <a:off x="18288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Join Our Team</a:t>
            </a:r>
          </a:p>
        </p:txBody>
      </p:sp>
      <p:sp>
        <p:nvSpPr>
          <p:cNvPr id="17" name="Page_Subtitle"/>
          <p:cNvSpPr txBox="1"/>
          <p:nvPr/>
        </p:nvSpPr>
        <p:spPr>
          <a:xfrm>
            <a:off x="182880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We're hiring talented individuals who are passionate about technology and innovation.</a:t>
            </a:r>
          </a:p>
        </p:txBody>
      </p:sp>
      <p:sp>
        <p:nvSpPr>
          <p:cNvPr id="18" name="Section_Title"/>
          <p:cNvSpPr txBox="1"/>
          <p:nvPr/>
        </p:nvSpPr>
        <p:spPr>
          <a:xfrm>
            <a:off x="182880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F3A"/>
                </a:solidFill>
                <a:latin typeface="Arial"/>
              </a:rPr>
              <a:t>Why Join DrivePixel?</a:t>
            </a:r>
          </a:p>
        </p:txBody>
      </p:sp>
      <p:sp>
        <p:nvSpPr>
          <p:cNvPr id="19" name="Benefit_Card_1"/>
          <p:cNvSpPr/>
          <p:nvPr/>
        </p:nvSpPr>
        <p:spPr>
          <a:xfrm>
            <a:off x="1371600" y="3291840"/>
            <a:ext cx="3657600" cy="118872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enefit_Icon_1"/>
          <p:cNvSpPr/>
          <p:nvPr/>
        </p:nvSpPr>
        <p:spPr>
          <a:xfrm>
            <a:off x="1600200" y="3520440"/>
            <a:ext cx="365760" cy="3657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enefit_Title_1"/>
          <p:cNvSpPr txBox="1"/>
          <p:nvPr/>
        </p:nvSpPr>
        <p:spPr>
          <a:xfrm>
            <a:off x="21031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  <a:latin typeface="Arial"/>
              </a:rPr>
              <a:t>Competitive Salary</a:t>
            </a:r>
          </a:p>
        </p:txBody>
      </p:sp>
      <p:sp>
        <p:nvSpPr>
          <p:cNvPr id="22" name="Benefit_Desc_1"/>
          <p:cNvSpPr txBox="1"/>
          <p:nvPr/>
        </p:nvSpPr>
        <p:spPr>
          <a:xfrm>
            <a:off x="21031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Industry-leading compensation packages</a:t>
            </a:r>
          </a:p>
        </p:txBody>
      </p:sp>
      <p:sp>
        <p:nvSpPr>
          <p:cNvPr id="23" name="Benefit_Card_2"/>
          <p:cNvSpPr/>
          <p:nvPr/>
        </p:nvSpPr>
        <p:spPr>
          <a:xfrm>
            <a:off x="5486400" y="3291840"/>
            <a:ext cx="3657600" cy="118872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enefit_Icon_2"/>
          <p:cNvSpPr/>
          <p:nvPr/>
        </p:nvSpPr>
        <p:spPr>
          <a:xfrm>
            <a:off x="5715000" y="3520440"/>
            <a:ext cx="365760" cy="3657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Benefit_Title_2"/>
          <p:cNvSpPr txBox="1"/>
          <p:nvPr/>
        </p:nvSpPr>
        <p:spPr>
          <a:xfrm>
            <a:off x="62179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  <a:latin typeface="Arial"/>
              </a:rPr>
              <a:t>Health Insurance</a:t>
            </a:r>
          </a:p>
        </p:txBody>
      </p:sp>
      <p:sp>
        <p:nvSpPr>
          <p:cNvPr id="26" name="Benefit_Desc_2"/>
          <p:cNvSpPr txBox="1"/>
          <p:nvPr/>
        </p:nvSpPr>
        <p:spPr>
          <a:xfrm>
            <a:off x="62179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Comprehensive health coverage</a:t>
            </a:r>
          </a:p>
        </p:txBody>
      </p:sp>
      <p:sp>
        <p:nvSpPr>
          <p:cNvPr id="27" name="Benefit_Card_3"/>
          <p:cNvSpPr/>
          <p:nvPr/>
        </p:nvSpPr>
        <p:spPr>
          <a:xfrm>
            <a:off x="9601200" y="3291840"/>
            <a:ext cx="3657600" cy="118872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enefit_Icon_3"/>
          <p:cNvSpPr/>
          <p:nvPr/>
        </p:nvSpPr>
        <p:spPr>
          <a:xfrm>
            <a:off x="9829800" y="3520440"/>
            <a:ext cx="365760" cy="3657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Benefit_Title_3"/>
          <p:cNvSpPr txBox="1"/>
          <p:nvPr/>
        </p:nvSpPr>
        <p:spPr>
          <a:xfrm>
            <a:off x="103327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  <a:latin typeface="Arial"/>
              </a:rPr>
              <a:t>Learning &amp; Development</a:t>
            </a:r>
          </a:p>
        </p:txBody>
      </p:sp>
      <p:sp>
        <p:nvSpPr>
          <p:cNvPr id="30" name="Benefit_Desc_3"/>
          <p:cNvSpPr txBox="1"/>
          <p:nvPr/>
        </p:nvSpPr>
        <p:spPr>
          <a:xfrm>
            <a:off x="103327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Continuous training and skill development</a:t>
            </a:r>
          </a:p>
        </p:txBody>
      </p:sp>
      <p:sp>
        <p:nvSpPr>
          <p:cNvPr id="31" name="Benefit_Card_4"/>
          <p:cNvSpPr/>
          <p:nvPr/>
        </p:nvSpPr>
        <p:spPr>
          <a:xfrm>
            <a:off x="1371600" y="4754880"/>
            <a:ext cx="3657600" cy="118872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enefit_Icon_4"/>
          <p:cNvSpPr/>
          <p:nvPr/>
        </p:nvSpPr>
        <p:spPr>
          <a:xfrm>
            <a:off x="1600200" y="4983480"/>
            <a:ext cx="365760" cy="3657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enefit_Title_4"/>
          <p:cNvSpPr txBox="1"/>
          <p:nvPr/>
        </p:nvSpPr>
        <p:spPr>
          <a:xfrm>
            <a:off x="210312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  <a:latin typeface="Arial"/>
              </a:rPr>
              <a:t>Flexible Work</a:t>
            </a:r>
          </a:p>
        </p:txBody>
      </p:sp>
      <p:sp>
        <p:nvSpPr>
          <p:cNvPr id="34" name="Benefit_Desc_4"/>
          <p:cNvSpPr txBox="1"/>
          <p:nvPr/>
        </p:nvSpPr>
        <p:spPr>
          <a:xfrm>
            <a:off x="210312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Remote and flexible working arrangements</a:t>
            </a:r>
          </a:p>
        </p:txBody>
      </p:sp>
      <p:sp>
        <p:nvSpPr>
          <p:cNvPr id="35" name="Benefit_Card_5"/>
          <p:cNvSpPr/>
          <p:nvPr/>
        </p:nvSpPr>
        <p:spPr>
          <a:xfrm>
            <a:off x="5486400" y="4754880"/>
            <a:ext cx="3657600" cy="118872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enefit_Icon_5"/>
          <p:cNvSpPr/>
          <p:nvPr/>
        </p:nvSpPr>
        <p:spPr>
          <a:xfrm>
            <a:off x="5715000" y="4983480"/>
            <a:ext cx="365760" cy="3657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Benefit_Title_5"/>
          <p:cNvSpPr txBox="1"/>
          <p:nvPr/>
        </p:nvSpPr>
        <p:spPr>
          <a:xfrm>
            <a:off x="621792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  <a:latin typeface="Arial"/>
              </a:rPr>
              <a:t>Team Culture</a:t>
            </a:r>
          </a:p>
        </p:txBody>
      </p:sp>
      <p:sp>
        <p:nvSpPr>
          <p:cNvPr id="38" name="Benefit_Desc_5"/>
          <p:cNvSpPr txBox="1"/>
          <p:nvPr/>
        </p:nvSpPr>
        <p:spPr>
          <a:xfrm>
            <a:off x="621792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Collaborative and inclusive environment</a:t>
            </a:r>
          </a:p>
        </p:txBody>
      </p:sp>
      <p:sp>
        <p:nvSpPr>
          <p:cNvPr id="39" name="Benefit_Card_6"/>
          <p:cNvSpPr/>
          <p:nvPr/>
        </p:nvSpPr>
        <p:spPr>
          <a:xfrm>
            <a:off x="9601200" y="4754880"/>
            <a:ext cx="3657600" cy="118872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enefit_Icon_6"/>
          <p:cNvSpPr/>
          <p:nvPr/>
        </p:nvSpPr>
        <p:spPr>
          <a:xfrm>
            <a:off x="9829800" y="4983480"/>
            <a:ext cx="365760" cy="36576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Benefit_Title_6"/>
          <p:cNvSpPr txBox="1"/>
          <p:nvPr/>
        </p:nvSpPr>
        <p:spPr>
          <a:xfrm>
            <a:off x="1033272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F3A"/>
                </a:solidFill>
                <a:latin typeface="Arial"/>
              </a:rPr>
              <a:t>Growth Opportunities</a:t>
            </a:r>
          </a:p>
        </p:txBody>
      </p:sp>
      <p:sp>
        <p:nvSpPr>
          <p:cNvPr id="42" name="Benefit_Desc_6"/>
          <p:cNvSpPr txBox="1"/>
          <p:nvPr/>
        </p:nvSpPr>
        <p:spPr>
          <a:xfrm>
            <a:off x="1033272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Clear career progression paths</a:t>
            </a:r>
          </a:p>
        </p:txBody>
      </p:sp>
      <p:sp>
        <p:nvSpPr>
          <p:cNvPr id="43" name="Footer_Background"/>
          <p:cNvSpPr/>
          <p:nvPr/>
        </p:nvSpPr>
        <p:spPr>
          <a:xfrm>
            <a:off x="0" y="7132320"/>
            <a:ext cx="14630400" cy="1097280"/>
          </a:xfrm>
          <a:prstGeom prst="rect">
            <a:avLst/>
          </a:prstGeom>
          <a:solidFill>
            <a:srgbClr val="1A1F3A"/>
          </a:solidFill>
          <a:ln>
            <a:solidFill>
              <a:srgbClr val="1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ooter_Logo"/>
          <p:cNvSpPr txBox="1"/>
          <p:nvPr/>
        </p:nvSpPr>
        <p:spPr>
          <a:xfrm>
            <a:off x="457200" y="7223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DrivePixel</a:t>
            </a:r>
          </a:p>
        </p:txBody>
      </p:sp>
      <p:sp>
        <p:nvSpPr>
          <p:cNvPr id="45" name="Footer_Tagline"/>
          <p:cNvSpPr txBox="1"/>
          <p:nvPr/>
        </p:nvSpPr>
        <p:spPr>
          <a:xfrm>
            <a:off x="457200" y="74980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Intelligent Digital Solutions</a:t>
            </a:r>
          </a:p>
        </p:txBody>
      </p:sp>
      <p:sp>
        <p:nvSpPr>
          <p:cNvPr id="46" name="Footer_Company_Title"/>
          <p:cNvSpPr txBox="1"/>
          <p:nvPr/>
        </p:nvSpPr>
        <p:spPr>
          <a:xfrm>
            <a:off x="36576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Company</a:t>
            </a:r>
          </a:p>
        </p:txBody>
      </p:sp>
      <p:sp>
        <p:nvSpPr>
          <p:cNvPr id="47" name="Footer_Company_Links"/>
          <p:cNvSpPr txBox="1"/>
          <p:nvPr/>
        </p:nvSpPr>
        <p:spPr>
          <a:xfrm>
            <a:off x="36576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About Us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Company Overview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Our History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Careers</a:t>
            </a:r>
          </a:p>
        </p:txBody>
      </p:sp>
      <p:sp>
        <p:nvSpPr>
          <p:cNvPr id="48" name="Footer_Services_Title"/>
          <p:cNvSpPr txBox="1"/>
          <p:nvPr/>
        </p:nvSpPr>
        <p:spPr>
          <a:xfrm>
            <a:off x="64008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49" name="Footer_Services_Links"/>
          <p:cNvSpPr txBox="1"/>
          <p:nvPr/>
        </p:nvSpPr>
        <p:spPr>
          <a:xfrm>
            <a:off x="6400800" y="7498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Web Development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Mobile Apps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Software Solutions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Cybersecurity</a:t>
            </a:r>
          </a:p>
        </p:txBody>
      </p:sp>
      <p:sp>
        <p:nvSpPr>
          <p:cNvPr id="50" name="Footer_Resources_Title"/>
          <p:cNvSpPr txBox="1"/>
          <p:nvPr/>
        </p:nvSpPr>
        <p:spPr>
          <a:xfrm>
            <a:off x="91440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51" name="Footer_Resources_Links"/>
          <p:cNvSpPr txBox="1"/>
          <p:nvPr/>
        </p:nvSpPr>
        <p:spPr>
          <a:xfrm>
            <a:off x="91440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Blog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Portfolio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Shop</a:t>
            </a:r>
          </a:p>
        </p:txBody>
      </p:sp>
      <p:sp>
        <p:nvSpPr>
          <p:cNvPr id="52" name="Footer_Legal_Title"/>
          <p:cNvSpPr txBox="1"/>
          <p:nvPr/>
        </p:nvSpPr>
        <p:spPr>
          <a:xfrm>
            <a:off x="11887200" y="7269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Legal</a:t>
            </a:r>
          </a:p>
        </p:txBody>
      </p:sp>
      <p:sp>
        <p:nvSpPr>
          <p:cNvPr id="53" name="Footer_Legal_Links"/>
          <p:cNvSpPr txBox="1"/>
          <p:nvPr/>
        </p:nvSpPr>
        <p:spPr>
          <a:xfrm>
            <a:off x="11887200" y="7498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Privacy Policy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Terms &amp; Conditions</a:t>
            </a:r>
          </a:p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Cookie Policy</a:t>
            </a:r>
          </a:p>
        </p:txBody>
      </p:sp>
      <p:sp>
        <p:nvSpPr>
          <p:cNvPr id="54" name="Footer_Copyright"/>
          <p:cNvSpPr txBox="1"/>
          <p:nvPr/>
        </p:nvSpPr>
        <p:spPr>
          <a:xfrm>
            <a:off x="457200" y="8001000"/>
            <a:ext cx="1371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Copyright © 2025 DrivePixel. All rights reserved.</a:t>
            </a:r>
          </a:p>
        </p:txBody>
      </p:sp>
      <p:sp>
        <p:nvSpPr>
          <p:cNvPr id="55" name="Slide_Label"/>
          <p:cNvSpPr txBox="1"/>
          <p:nvPr/>
        </p:nvSpPr>
        <p:spPr>
          <a:xfrm>
            <a:off x="457200" y="7772400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Arial"/>
              </a:rPr>
              <a:t>Slide 18/18: Careers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2272</Words>
  <Application>Microsoft Office PowerPoint</Application>
  <PresentationFormat>Custom</PresentationFormat>
  <Paragraphs>709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youssef mohamed</cp:lastModifiedBy>
  <cp:revision>4</cp:revision>
  <dcterms:created xsi:type="dcterms:W3CDTF">2013-01-27T09:14:16Z</dcterms:created>
  <dcterms:modified xsi:type="dcterms:W3CDTF">2025-12-27T21:54:21Z</dcterms:modified>
  <cp:category/>
</cp:coreProperties>
</file>